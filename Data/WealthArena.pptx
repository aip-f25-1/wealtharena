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66" r:id="rId2"/>
    <p:sldId id="267" r:id="rId3"/>
    <p:sldId id="268" r:id="rId4"/>
    <p:sldId id="269" r:id="rId5"/>
    <p:sldId id="270" r:id="rId6"/>
    <p:sldId id="272" r:id="rId7"/>
    <p:sldId id="285" r:id="rId8"/>
    <p:sldId id="273" r:id="rId9"/>
    <p:sldId id="284" r:id="rId10"/>
    <p:sldId id="283" r:id="rId11"/>
    <p:sldId id="278" r:id="rId12"/>
    <p:sldId id="276" r:id="rId13"/>
    <p:sldId id="277" r:id="rId14"/>
  </p:sldIdLst>
  <p:sldSz cx="14630400" cy="8229600"/>
  <p:notesSz cx="8229600" cy="14630400"/>
  <p:embeddedFontLst>
    <p:embeddedFont>
      <p:font typeface="Heebo Light" pitchFamily="2" charset="-79"/>
      <p:regular r:id="rId16"/>
    </p:embeddedFont>
    <p:embeddedFont>
      <p:font typeface="Montserrat" panose="00000500000000000000" pitchFamily="2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863D"/>
    <a:srgbClr val="002B1C"/>
    <a:srgbClr val="3F9041"/>
    <a:srgbClr val="3E9841"/>
    <a:srgbClr val="5A883D"/>
    <a:srgbClr val="398A31"/>
    <a:srgbClr val="4BB72E"/>
    <a:srgbClr val="DCD7E5"/>
    <a:srgbClr val="4B1C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3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4622EF-0F3A-41AB-8405-CFB5355CD9C8}" type="datetimeFigureOut">
              <a:t>10/28/2025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85B21B-F307-4661-975C-0339F1EF903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424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7.png"/><Relationship Id="rId7" Type="http://schemas.openxmlformats.org/officeDocument/2006/relationships/image" Target="../media/image11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eg"/><Relationship Id="rId5" Type="http://schemas.openxmlformats.org/officeDocument/2006/relationships/image" Target="../media/image9.png"/><Relationship Id="rId4" Type="http://schemas.openxmlformats.org/officeDocument/2006/relationships/image" Target="../media/image8.jpeg"/><Relationship Id="rId9" Type="http://schemas.openxmlformats.org/officeDocument/2006/relationships/image" Target="../media/image1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svg"/><Relationship Id="rId5" Type="http://schemas.openxmlformats.org/officeDocument/2006/relationships/image" Target="../media/image22.sv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hyperlink" Target="https://drive.google.com/file/d/1GCRqyDkdaj2j0R73FRo_O6xSSoMnd0Up/view?usp=drivesdk" TargetMode="External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camwatch.gov.au/system/files/targeting-scams-report-2024.pdf?utm_source=chatgpt.com" TargetMode="External"/><Relationship Id="rId13" Type="http://schemas.openxmlformats.org/officeDocument/2006/relationships/hyperlink" Target="https://faculty.haas.berkeley.edu/odean/papers/Day%20Traders/Day%20Trading%20and%20Learning%20110217.pdf?utm_source=chatgpt.com" TargetMode="External"/><Relationship Id="rId3" Type="http://schemas.openxmlformats.org/officeDocument/2006/relationships/hyperlink" Target="https://download.asic.gov.au/media/z1nj5m5e/rep735-published-11-august-2022.pdf?utm_source=chatgpt.com" TargetMode="External"/><Relationship Id="rId7" Type="http://schemas.openxmlformats.org/officeDocument/2006/relationships/hyperlink" Target="https://www.asic.gov.au/about-asic/news-centre/news-items/read-this-before-trading-cfds/?utm_source=chatgpt.com" TargetMode="External"/><Relationship Id="rId12" Type="http://schemas.openxmlformats.org/officeDocument/2006/relationships/hyperlink" Target="https://faculty.haas.berkeley.edu/odean/papers%20current%20versions/individual_investor_performance_final.pdf?utm_source=chatgpt.com" TargetMode="External"/><Relationship Id="rId2" Type="http://schemas.openxmlformats.org/officeDocument/2006/relationships/hyperlink" Target="https://www.asx.com.au/content/dam/asx/blog/asx-australian-investor-study-2023.pdf?utm_source=chatgpt.com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asic.gov.au/about-asic/news-centre/find-a-media-release/2020-releases/20-254mr-asic-product-intervention-order-strengthens-cfd-protections/?utm_source=chatgpt.com" TargetMode="External"/><Relationship Id="rId11" Type="http://schemas.openxmlformats.org/officeDocument/2006/relationships/hyperlink" Target="https://www.iosco.org/library/pubdocs/pdf/IOSCOPD795.pdf?utm_source=chatgpt.com" TargetMode="External"/><Relationship Id="rId5" Type="http://schemas.openxmlformats.org/officeDocument/2006/relationships/hyperlink" Target="https://www.asic.gov.au/regulatory-resources/financial-services/giving-financial-product-advice/discussing-financial-products-and-services-online/?utm_source=chatgpt.com" TargetMode="External"/><Relationship Id="rId10" Type="http://schemas.openxmlformats.org/officeDocument/2006/relationships/hyperlink" Target="https://www.iosco.org/library/pubdocs/pdf/IOSCOPD730.pdf?utm_source=chatgpt.com" TargetMode="External"/><Relationship Id="rId4" Type="http://schemas.openxmlformats.org/officeDocument/2006/relationships/hyperlink" Target="https://www.asic.gov.au/regulatory-resources/find-a-document/reports/rep-735-retail-investor-research/?utm_source=chatgpt.com" TargetMode="External"/><Relationship Id="rId9" Type="http://schemas.openxmlformats.org/officeDocument/2006/relationships/hyperlink" Target="https://www.accc.gov.au/system/files/NASC-Investment-scam-fusion-cell-final-report-2024.pdf?utm_source=chatgpt.com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34FBB78D-448C-5E31-8217-95C36A180F0A}"/>
              </a:ext>
            </a:extLst>
          </p:cNvPr>
          <p:cNvSpPr/>
          <p:nvPr/>
        </p:nvSpPr>
        <p:spPr>
          <a:xfrm>
            <a:off x="6706910" y="341310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550"/>
              </a:lnSpc>
              <a:buNone/>
            </a:pPr>
            <a:r>
              <a:rPr lang="en-US" sz="4450" dirty="0" err="1">
                <a:solidFill>
                  <a:srgbClr val="F2F0F4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WealthArena</a:t>
            </a:r>
            <a:endParaRPr lang="en-US" sz="4450" dirty="0">
              <a:latin typeface="Montserrat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087191FE-47DC-22B4-3DD4-03BE270EC718}"/>
              </a:ext>
            </a:extLst>
          </p:cNvPr>
          <p:cNvSpPr/>
          <p:nvPr/>
        </p:nvSpPr>
        <p:spPr>
          <a:xfrm>
            <a:off x="6706910" y="4362986"/>
            <a:ext cx="75564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550"/>
              </a:lnSpc>
            </a:pPr>
            <a:r>
              <a:rPr lang="en-US" sz="2200">
                <a:solidFill>
                  <a:srgbClr val="DCD7E5"/>
                </a:solidFill>
                <a:latin typeface="Heebo Light"/>
                <a:cs typeface="Heebo Light"/>
              </a:rPr>
              <a:t>Empowering Beginners to invest with Confidence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3D9E93-E7E1-24B9-6227-76E323A907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8408" y="164612"/>
            <a:ext cx="1780266" cy="1780266"/>
          </a:xfrm>
          <a:prstGeom prst="rect">
            <a:avLst/>
          </a:prstGeom>
        </p:spPr>
      </p:pic>
      <p:sp>
        <p:nvSpPr>
          <p:cNvPr id="6" name="AutoShape 2" descr="Image of ">
            <a:extLst>
              <a:ext uri="{FF2B5EF4-FFF2-40B4-BE49-F238E27FC236}">
                <a16:creationId xmlns:a16="http://schemas.microsoft.com/office/drawing/2014/main" id="{74BC6C60-A3CB-DE02-2275-8B4EDDFF9A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" name="Picture 11" descr="A purple cellphone on a round platform with leaves and a blue arch&#10;&#10;AI-generated content may be incorrect.">
            <a:extLst>
              <a:ext uri="{FF2B5EF4-FFF2-40B4-BE49-F238E27FC236}">
                <a16:creationId xmlns:a16="http://schemas.microsoft.com/office/drawing/2014/main" id="{4C51311E-D7BE-85A2-D531-5B6316E1FC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552" r="12839"/>
          <a:stretch>
            <a:fillRect/>
          </a:stretch>
        </p:blipFill>
        <p:spPr>
          <a:xfrm>
            <a:off x="0" y="7084"/>
            <a:ext cx="6049108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22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F52DEA06-A95B-5E4E-04BD-35ACC12EB237}"/>
              </a:ext>
            </a:extLst>
          </p:cNvPr>
          <p:cNvSpPr/>
          <p:nvPr/>
        </p:nvSpPr>
        <p:spPr>
          <a:xfrm>
            <a:off x="793790" y="1686044"/>
            <a:ext cx="715363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F2F0F4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What We'll Explore Today</a:t>
            </a:r>
            <a:endParaRPr lang="en-US" sz="4450">
              <a:latin typeface="Montserrat" panose="00000500000000000000" pitchFamily="2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6533183A-A009-7063-151A-65DD77B29E04}"/>
              </a:ext>
            </a:extLst>
          </p:cNvPr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DCD7E5"/>
                </a:solidFill>
                <a:latin typeface="Montserrat" panose="00000500000000000000" pitchFamily="2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750">
              <a:latin typeface="Montserrat" panose="00000500000000000000" pitchFamily="2" charset="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4AA6F275-F012-C84F-C491-6D11CD22F443}"/>
              </a:ext>
            </a:extLst>
          </p:cNvPr>
          <p:cNvSpPr/>
          <p:nvPr/>
        </p:nvSpPr>
        <p:spPr>
          <a:xfrm>
            <a:off x="793790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DCD7E5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The Opportunity</a:t>
            </a:r>
            <a:endParaRPr lang="en-US" sz="2200">
              <a:latin typeface="Montserrat" panose="00000500000000000000" pitchFamily="2" charset="0"/>
            </a:endParaRP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96B965C2-4290-9949-0A79-2A5D89FF7BB1}"/>
              </a:ext>
            </a:extLst>
          </p:cNvPr>
          <p:cNvSpPr/>
          <p:nvPr/>
        </p:nvSpPr>
        <p:spPr>
          <a:xfrm>
            <a:off x="793790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DCD7E5"/>
                </a:solidFill>
                <a:latin typeface="Montserrat" panose="00000500000000000000" pitchFamily="2" charset="0"/>
                <a:ea typeface="Heebo Light" pitchFamily="34" charset="-122"/>
                <a:cs typeface="Heebo Light" pitchFamily="34" charset="-120"/>
              </a:rPr>
              <a:t>Market demand for accessible trading education</a:t>
            </a:r>
            <a:endParaRPr lang="en-US" sz="1750">
              <a:latin typeface="Montserrat" panose="00000500000000000000" pitchFamily="2" charset="0"/>
            </a:endParaRPr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76A32FC6-E5B3-8B34-D453-AC7C4424A22C}"/>
              </a:ext>
            </a:extLst>
          </p:cNvPr>
          <p:cNvSpPr/>
          <p:nvPr/>
        </p:nvSpPr>
        <p:spPr>
          <a:xfrm>
            <a:off x="5216962" y="2848451"/>
            <a:ext cx="424522" cy="15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DCD7E5"/>
                </a:solidFill>
                <a:latin typeface="Montserrat" panose="00000500000000000000" pitchFamily="2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750">
              <a:latin typeface="Montserrat" panose="00000500000000000000" pitchFamily="2" charset="0"/>
            </a:endParaRPr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B5B5BF37-44A7-EBA9-1352-802F0E4C58B7}"/>
              </a:ext>
            </a:extLst>
          </p:cNvPr>
          <p:cNvSpPr/>
          <p:nvPr/>
        </p:nvSpPr>
        <p:spPr>
          <a:xfrm>
            <a:off x="5216962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DCD7E5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The Challenge</a:t>
            </a:r>
            <a:endParaRPr lang="en-US" sz="2200">
              <a:latin typeface="Montserrat" panose="00000500000000000000" pitchFamily="2" charset="0"/>
            </a:endParaRPr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5E68E6B1-DD4D-CC90-7C20-164C94C17781}"/>
              </a:ext>
            </a:extLst>
          </p:cNvPr>
          <p:cNvSpPr/>
          <p:nvPr/>
        </p:nvSpPr>
        <p:spPr>
          <a:xfrm>
            <a:off x="5216962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DCD7E5"/>
                </a:solidFill>
                <a:latin typeface="Montserrat" panose="00000500000000000000" pitchFamily="2" charset="0"/>
                <a:ea typeface="Heebo Light" pitchFamily="34" charset="-122"/>
                <a:cs typeface="Heebo Light" pitchFamily="34" charset="-120"/>
              </a:rPr>
              <a:t>Why beginners struggle without proper guidance</a:t>
            </a:r>
            <a:endParaRPr lang="en-US" sz="1750">
              <a:latin typeface="Montserrat" panose="00000500000000000000" pitchFamily="2" charset="0"/>
            </a:endParaRPr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F1BCC0EA-D324-ECC3-771E-ADD6BB49D14A}"/>
              </a:ext>
            </a:extLst>
          </p:cNvPr>
          <p:cNvSpPr/>
          <p:nvPr/>
        </p:nvSpPr>
        <p:spPr>
          <a:xfrm>
            <a:off x="9640133" y="2897878"/>
            <a:ext cx="412165" cy="172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DCD7E5"/>
                </a:solidFill>
                <a:latin typeface="Montserrat" panose="00000500000000000000" pitchFamily="2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750">
              <a:latin typeface="Montserrat" panose="00000500000000000000" pitchFamily="2" charset="0"/>
            </a:endParaRPr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22996549-92D0-1F29-6808-F891FA6D510D}"/>
              </a:ext>
            </a:extLst>
          </p:cNvPr>
          <p:cNvSpPr/>
          <p:nvPr/>
        </p:nvSpPr>
        <p:spPr>
          <a:xfrm>
            <a:off x="9640133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DCD7E5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Our Solution</a:t>
            </a:r>
            <a:endParaRPr lang="en-US" sz="2200">
              <a:latin typeface="Montserrat" panose="00000500000000000000" pitchFamily="2" charset="0"/>
            </a:endParaRPr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15F86F4A-4E98-EE70-EE1A-60ED817A8181}"/>
              </a:ext>
            </a:extLst>
          </p:cNvPr>
          <p:cNvSpPr/>
          <p:nvPr/>
        </p:nvSpPr>
        <p:spPr>
          <a:xfrm>
            <a:off x="9640133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DCD7E5"/>
                </a:solidFill>
                <a:latin typeface="Montserrat" panose="00000500000000000000" pitchFamily="2" charset="0"/>
                <a:ea typeface="Heebo Light" pitchFamily="34" charset="-122"/>
                <a:cs typeface="Heebo Light" pitchFamily="34" charset="-120"/>
              </a:rPr>
              <a:t>WealthArena's integrated learning platform</a:t>
            </a:r>
            <a:endParaRPr lang="en-US" sz="1750">
              <a:latin typeface="Montserrat" panose="00000500000000000000" pitchFamily="2" charset="0"/>
            </a:endParaRPr>
          </a:p>
        </p:txBody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85F44AE5-EC17-99FA-3637-40F84B54A724}"/>
              </a:ext>
            </a:extLst>
          </p:cNvPr>
          <p:cNvSpPr/>
          <p:nvPr/>
        </p:nvSpPr>
        <p:spPr>
          <a:xfrm>
            <a:off x="793790" y="4990862"/>
            <a:ext cx="362738" cy="295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DCD7E5"/>
                </a:solidFill>
                <a:latin typeface="Montserrat" panose="00000500000000000000" pitchFamily="2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750">
              <a:latin typeface="Montserrat" panose="00000500000000000000" pitchFamily="2" charset="0"/>
            </a:endParaRPr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1D25D074-F02F-83CF-A553-EB56FB283365}"/>
              </a:ext>
            </a:extLst>
          </p:cNvPr>
          <p:cNvSpPr/>
          <p:nvPr/>
        </p:nvSpPr>
        <p:spPr>
          <a:xfrm>
            <a:off x="793790" y="55202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DCD7E5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Our Technology</a:t>
            </a:r>
            <a:endParaRPr lang="en-US" sz="2200">
              <a:latin typeface="Montserrat" panose="00000500000000000000" pitchFamily="2" charset="0"/>
            </a:endParaRPr>
          </a:p>
        </p:txBody>
      </p:sp>
      <p:sp>
        <p:nvSpPr>
          <p:cNvPr id="35" name="Text 12">
            <a:extLst>
              <a:ext uri="{FF2B5EF4-FFF2-40B4-BE49-F238E27FC236}">
                <a16:creationId xmlns:a16="http://schemas.microsoft.com/office/drawing/2014/main" id="{13359760-1E39-D8C9-103F-17328F4430DC}"/>
              </a:ext>
            </a:extLst>
          </p:cNvPr>
          <p:cNvSpPr/>
          <p:nvPr/>
        </p:nvSpPr>
        <p:spPr>
          <a:xfrm>
            <a:off x="793790" y="6010632"/>
            <a:ext cx="4208083" cy="760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DCD7E5"/>
                </a:solidFill>
                <a:latin typeface="Montserrat" panose="00000500000000000000" pitchFamily="2" charset="0"/>
                <a:ea typeface="Heebo Light" pitchFamily="34" charset="-122"/>
                <a:cs typeface="Heebo Light" pitchFamily="34" charset="-120"/>
              </a:rPr>
              <a:t>AI-powered recommendations and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DCD7E5"/>
                </a:solidFill>
                <a:latin typeface="Montserrat" panose="00000500000000000000" pitchFamily="2" charset="0"/>
                <a:ea typeface="Heebo Light" pitchFamily="34" charset="-122"/>
                <a:cs typeface="Heebo Light" pitchFamily="34" charset="-120"/>
              </a:rPr>
              <a:t>architecture</a:t>
            </a:r>
            <a:endParaRPr lang="en-US" sz="1750">
              <a:latin typeface="Montserrat" panose="00000500000000000000" pitchFamily="2" charset="0"/>
            </a:endParaRPr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FA0ACD81-8CEC-DA7A-F838-07F82675937A}"/>
              </a:ext>
            </a:extLst>
          </p:cNvPr>
          <p:cNvSpPr/>
          <p:nvPr/>
        </p:nvSpPr>
        <p:spPr>
          <a:xfrm>
            <a:off x="9640133" y="5144962"/>
            <a:ext cx="375095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DCD7E5"/>
                </a:solidFill>
                <a:latin typeface="Montserrat" panose="00000500000000000000" pitchFamily="2" charset="0"/>
                <a:ea typeface="Montserrat Light" pitchFamily="34" charset="-122"/>
                <a:cs typeface="Montserrat Light" pitchFamily="34" charset="-120"/>
              </a:rPr>
              <a:t>06</a:t>
            </a:r>
            <a:endParaRPr lang="en-US" sz="1750">
              <a:latin typeface="Montserrat" panose="00000500000000000000" pitchFamily="2" charset="0"/>
            </a:endParaRPr>
          </a:p>
        </p:txBody>
      </p:sp>
      <p:sp>
        <p:nvSpPr>
          <p:cNvPr id="41" name="Text 14">
            <a:extLst>
              <a:ext uri="{FF2B5EF4-FFF2-40B4-BE49-F238E27FC236}">
                <a16:creationId xmlns:a16="http://schemas.microsoft.com/office/drawing/2014/main" id="{649A7631-D397-7FA3-23E3-2784C4D36DE5}"/>
              </a:ext>
            </a:extLst>
          </p:cNvPr>
          <p:cNvSpPr/>
          <p:nvPr/>
        </p:nvSpPr>
        <p:spPr>
          <a:xfrm>
            <a:off x="9640133" y="56743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DCD7E5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Vision</a:t>
            </a:r>
            <a:endParaRPr lang="en-US" sz="2200">
              <a:latin typeface="Montserrat" panose="00000500000000000000" pitchFamily="2" charset="0"/>
            </a:endParaRPr>
          </a:p>
        </p:txBody>
      </p:sp>
      <p:sp>
        <p:nvSpPr>
          <p:cNvPr id="43" name="Text 15">
            <a:extLst>
              <a:ext uri="{FF2B5EF4-FFF2-40B4-BE49-F238E27FC236}">
                <a16:creationId xmlns:a16="http://schemas.microsoft.com/office/drawing/2014/main" id="{666E4BBF-7D78-5746-E59A-010B55DCD9F5}"/>
              </a:ext>
            </a:extLst>
          </p:cNvPr>
          <p:cNvSpPr/>
          <p:nvPr/>
        </p:nvSpPr>
        <p:spPr>
          <a:xfrm>
            <a:off x="9640133" y="61647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DCD7E5"/>
                </a:solidFill>
                <a:latin typeface="Montserrat" panose="00000500000000000000" pitchFamily="2" charset="0"/>
                <a:ea typeface="Heebo Light" pitchFamily="34" charset="-122"/>
                <a:cs typeface="Heebo Light" pitchFamily="34" charset="-120"/>
              </a:rPr>
              <a:t>Progress achieved and future roadmap</a:t>
            </a:r>
            <a:endParaRPr lang="en-US" sz="1750">
              <a:latin typeface="Montserrat" panose="00000500000000000000" pitchFamily="2" charset="0"/>
            </a:endParaRPr>
          </a:p>
        </p:txBody>
      </p:sp>
      <p:sp>
        <p:nvSpPr>
          <p:cNvPr id="2" name="Text 10">
            <a:extLst>
              <a:ext uri="{FF2B5EF4-FFF2-40B4-BE49-F238E27FC236}">
                <a16:creationId xmlns:a16="http://schemas.microsoft.com/office/drawing/2014/main" id="{5475759C-D69C-69AF-153B-03A79D822265}"/>
              </a:ext>
            </a:extLst>
          </p:cNvPr>
          <p:cNvSpPr/>
          <p:nvPr/>
        </p:nvSpPr>
        <p:spPr>
          <a:xfrm>
            <a:off x="5205236" y="4990862"/>
            <a:ext cx="362738" cy="295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DCD7E5"/>
                </a:solidFill>
                <a:latin typeface="Montserrat" panose="00000500000000000000" pitchFamily="2" charset="0"/>
                <a:ea typeface="Montserrat Light" pitchFamily="34" charset="-122"/>
                <a:cs typeface="Montserrat Light" pitchFamily="34" charset="-120"/>
              </a:rPr>
              <a:t>05</a:t>
            </a:r>
            <a:endParaRPr lang="en-US" sz="1750">
              <a:latin typeface="Montserrat" panose="00000500000000000000" pitchFamily="2" charset="0"/>
            </a:endParaRPr>
          </a:p>
        </p:txBody>
      </p:sp>
      <p:sp>
        <p:nvSpPr>
          <p:cNvPr id="4" name="Text 11">
            <a:extLst>
              <a:ext uri="{FF2B5EF4-FFF2-40B4-BE49-F238E27FC236}">
                <a16:creationId xmlns:a16="http://schemas.microsoft.com/office/drawing/2014/main" id="{B574A4F5-961C-DCD7-DCF2-31FEFA8F4220}"/>
              </a:ext>
            </a:extLst>
          </p:cNvPr>
          <p:cNvSpPr/>
          <p:nvPr/>
        </p:nvSpPr>
        <p:spPr>
          <a:xfrm>
            <a:off x="5205236" y="55202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DCD7E5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Results</a:t>
            </a:r>
            <a:endParaRPr lang="en-US" sz="2200">
              <a:latin typeface="Montserrat" panose="00000500000000000000" pitchFamily="2" charset="0"/>
            </a:endParaRPr>
          </a:p>
        </p:txBody>
      </p:sp>
      <p:sp>
        <p:nvSpPr>
          <p:cNvPr id="6" name="Text 12">
            <a:extLst>
              <a:ext uri="{FF2B5EF4-FFF2-40B4-BE49-F238E27FC236}">
                <a16:creationId xmlns:a16="http://schemas.microsoft.com/office/drawing/2014/main" id="{A4D7ED04-7A52-E1E9-FF5F-DEE355A3FCE5}"/>
              </a:ext>
            </a:extLst>
          </p:cNvPr>
          <p:cNvSpPr/>
          <p:nvPr/>
        </p:nvSpPr>
        <p:spPr>
          <a:xfrm>
            <a:off x="5205236" y="6010632"/>
            <a:ext cx="4208083" cy="760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DCD7E5"/>
                </a:solidFill>
                <a:latin typeface="Montserrat" panose="00000500000000000000" pitchFamily="2" charset="0"/>
                <a:ea typeface="Heebo Light" pitchFamily="34" charset="-122"/>
                <a:cs typeface="Heebo Light" pitchFamily="34" charset="-120"/>
              </a:rPr>
              <a:t>Metrics of our results</a:t>
            </a:r>
            <a:endParaRPr lang="en-US" sz="175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276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2FDB3766-E2AB-FDDE-E4E6-CD0C9AB240EB}"/>
              </a:ext>
            </a:extLst>
          </p:cNvPr>
          <p:cNvSpPr/>
          <p:nvPr/>
        </p:nvSpPr>
        <p:spPr>
          <a:xfrm>
            <a:off x="742950" y="583763"/>
            <a:ext cx="7614404" cy="663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>
                <a:solidFill>
                  <a:srgbClr val="F2F0F4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Meet the WealthArena Team</a:t>
            </a:r>
            <a:endParaRPr lang="en-US" sz="4150">
              <a:latin typeface="Montserrat" panose="00000500000000000000" pitchFamily="2" charset="0"/>
            </a:endParaRPr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D48886C5-6666-328A-39D4-FCA5E8B76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468" y="1622091"/>
            <a:ext cx="3025389" cy="1870907"/>
          </a:xfrm>
          <a:prstGeom prst="rect">
            <a:avLst/>
          </a:prstGeom>
          <a:ln w="57150">
            <a:solidFill>
              <a:srgbClr val="30863D"/>
            </a:solidFill>
          </a:ln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F8CB913A-F95E-83B5-DB4E-22BC270C00C6}"/>
              </a:ext>
            </a:extLst>
          </p:cNvPr>
          <p:cNvSpPr/>
          <p:nvPr/>
        </p:nvSpPr>
        <p:spPr>
          <a:xfrm>
            <a:off x="2423468" y="3766950"/>
            <a:ext cx="2591644" cy="269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00"/>
              </a:lnSpc>
            </a:pPr>
            <a:r>
              <a:rPr lang="en-US" sz="2050">
                <a:solidFill>
                  <a:srgbClr val="DCD7E5"/>
                </a:solidFill>
                <a:latin typeface="Montserrat" panose="00000500000000000000" pitchFamily="2" charset="0"/>
              </a:rPr>
              <a:t>Clifford Addison</a:t>
            </a: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6C8F2325-0725-6AA0-04DF-256DBEB76975}"/>
              </a:ext>
            </a:extLst>
          </p:cNvPr>
          <p:cNvSpPr/>
          <p:nvPr/>
        </p:nvSpPr>
        <p:spPr>
          <a:xfrm>
            <a:off x="2423468" y="4225936"/>
            <a:ext cx="3025389" cy="277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US" sz="1650">
                <a:solidFill>
                  <a:srgbClr val="DCD7E5"/>
                </a:solidFill>
                <a:latin typeface="Montserrat" panose="00000500000000000000" pitchFamily="2" charset="0"/>
                <a:ea typeface="Heebo Light" pitchFamily="34" charset="-122"/>
                <a:cs typeface="Heebo Light"/>
              </a:rPr>
              <a:t>Project Lead &amp; AI Engineer 1</a:t>
            </a:r>
            <a:endParaRPr lang="en-US" sz="1650">
              <a:latin typeface="Montserrat" panose="00000500000000000000" pitchFamily="2" charset="0"/>
            </a:endParaRPr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E0260F0C-8FD8-94E6-03C6-29E0F6BC131F}"/>
              </a:ext>
            </a:extLst>
          </p:cNvPr>
          <p:cNvSpPr/>
          <p:nvPr/>
        </p:nvSpPr>
        <p:spPr>
          <a:xfrm>
            <a:off x="5775911" y="3766950"/>
            <a:ext cx="2591644" cy="269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00"/>
              </a:lnSpc>
            </a:pPr>
            <a:r>
              <a:rPr lang="en-US" sz="2050">
                <a:solidFill>
                  <a:srgbClr val="DCD7E5"/>
                </a:solidFill>
                <a:latin typeface="Montserrat" panose="00000500000000000000" pitchFamily="2" charset="0"/>
              </a:rPr>
              <a:t>Shivam Bhargav</a:t>
            </a:r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CF4D6D27-A87B-4F87-E79B-8E3C4A14C4F8}"/>
              </a:ext>
            </a:extLst>
          </p:cNvPr>
          <p:cNvSpPr/>
          <p:nvPr/>
        </p:nvSpPr>
        <p:spPr>
          <a:xfrm>
            <a:off x="5775911" y="4225936"/>
            <a:ext cx="3025389" cy="277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US" sz="1650">
                <a:solidFill>
                  <a:srgbClr val="DCD7E5"/>
                </a:solidFill>
                <a:latin typeface="Montserrat" panose="00000500000000000000" pitchFamily="2" charset="0"/>
                <a:cs typeface="Heebo Light"/>
              </a:rPr>
              <a:t>Technical Lead &amp; CS Engineer 1</a:t>
            </a:r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46E0F344-0721-4838-4949-881BFF7BEADB}"/>
              </a:ext>
            </a:extLst>
          </p:cNvPr>
          <p:cNvSpPr/>
          <p:nvPr/>
        </p:nvSpPr>
        <p:spPr>
          <a:xfrm>
            <a:off x="9128354" y="3766950"/>
            <a:ext cx="2591644" cy="269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>
                <a:solidFill>
                  <a:srgbClr val="DCD7E5"/>
                </a:solidFill>
                <a:latin typeface="Montserrat" panose="00000500000000000000" pitchFamily="2" charset="0"/>
              </a:rPr>
              <a:t>Kanika</a:t>
            </a:r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5D3858FA-7F3C-2740-EA22-D5684A04A244}"/>
              </a:ext>
            </a:extLst>
          </p:cNvPr>
          <p:cNvSpPr/>
          <p:nvPr/>
        </p:nvSpPr>
        <p:spPr>
          <a:xfrm>
            <a:off x="9128354" y="4225936"/>
            <a:ext cx="3025389" cy="277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US" sz="1650">
                <a:solidFill>
                  <a:srgbClr val="DCD7E5"/>
                </a:solidFill>
                <a:latin typeface="Montserrat" panose="00000500000000000000" pitchFamily="2" charset="0"/>
                <a:cs typeface="Heebo Light"/>
              </a:rPr>
              <a:t>AI Engineer 2</a:t>
            </a:r>
          </a:p>
        </p:txBody>
      </p:sp>
      <p:pic>
        <p:nvPicPr>
          <p:cNvPr id="23" name="Image 3" descr="preencoded.png">
            <a:extLst>
              <a:ext uri="{FF2B5EF4-FFF2-40B4-BE49-F238E27FC236}">
                <a16:creationId xmlns:a16="http://schemas.microsoft.com/office/drawing/2014/main" id="{C4DDE583-3D56-D248-1883-7AD47A66CA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2115" y="4958415"/>
            <a:ext cx="3025389" cy="1870907"/>
          </a:xfrm>
          <a:prstGeom prst="rect">
            <a:avLst/>
          </a:prstGeom>
        </p:spPr>
      </p:pic>
      <p:sp>
        <p:nvSpPr>
          <p:cNvPr id="25" name="Text 7">
            <a:extLst>
              <a:ext uri="{FF2B5EF4-FFF2-40B4-BE49-F238E27FC236}">
                <a16:creationId xmlns:a16="http://schemas.microsoft.com/office/drawing/2014/main" id="{4320DEAB-51D5-058A-5E95-C1FF1BCF8F52}"/>
              </a:ext>
            </a:extLst>
          </p:cNvPr>
          <p:cNvSpPr/>
          <p:nvPr/>
        </p:nvSpPr>
        <p:spPr>
          <a:xfrm>
            <a:off x="9132115" y="7115631"/>
            <a:ext cx="2591644" cy="269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00"/>
              </a:lnSpc>
            </a:pPr>
            <a:r>
              <a:rPr lang="en-US" sz="2050">
                <a:solidFill>
                  <a:srgbClr val="DCD7E5"/>
                </a:solidFill>
                <a:latin typeface="Montserrat" panose="00000500000000000000" pitchFamily="2" charset="0"/>
              </a:rPr>
              <a:t>Amruth Raj</a:t>
            </a:r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00463F68-A76F-829A-F139-03FB9EC1C777}"/>
              </a:ext>
            </a:extLst>
          </p:cNvPr>
          <p:cNvSpPr/>
          <p:nvPr/>
        </p:nvSpPr>
        <p:spPr>
          <a:xfrm>
            <a:off x="9132115" y="7574617"/>
            <a:ext cx="3025389" cy="277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US" sz="1650">
                <a:solidFill>
                  <a:srgbClr val="DCD7E5"/>
                </a:solidFill>
                <a:latin typeface="Montserrat" panose="00000500000000000000" pitchFamily="2" charset="0"/>
                <a:cs typeface="Heebo Light"/>
              </a:rPr>
              <a:t>AI Engineer 4</a:t>
            </a:r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23B31BFC-215C-99B8-0C60-85AA66530F60}"/>
              </a:ext>
            </a:extLst>
          </p:cNvPr>
          <p:cNvSpPr/>
          <p:nvPr/>
        </p:nvSpPr>
        <p:spPr>
          <a:xfrm>
            <a:off x="2423468" y="7110106"/>
            <a:ext cx="2591644" cy="269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00"/>
              </a:lnSpc>
            </a:pPr>
            <a:r>
              <a:rPr lang="en-US" sz="2050">
                <a:solidFill>
                  <a:srgbClr val="DCD7E5"/>
                </a:solidFill>
                <a:latin typeface="Montserrat" panose="00000500000000000000" pitchFamily="2" charset="0"/>
              </a:rPr>
              <a:t>Neha </a:t>
            </a:r>
            <a:r>
              <a:rPr lang="en-US" sz="2050" err="1">
                <a:solidFill>
                  <a:srgbClr val="DCD7E5"/>
                </a:solidFill>
                <a:latin typeface="Montserrat" panose="00000500000000000000" pitchFamily="2" charset="0"/>
              </a:rPr>
              <a:t>Nareshbhai</a:t>
            </a:r>
            <a:r>
              <a:rPr lang="en-US" sz="2050">
                <a:solidFill>
                  <a:srgbClr val="DCD7E5"/>
                </a:solidFill>
                <a:latin typeface="Montserrat" panose="00000500000000000000" pitchFamily="2" charset="0"/>
              </a:rPr>
              <a:t> Patel</a:t>
            </a:r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33" name="Text 10">
            <a:extLst>
              <a:ext uri="{FF2B5EF4-FFF2-40B4-BE49-F238E27FC236}">
                <a16:creationId xmlns:a16="http://schemas.microsoft.com/office/drawing/2014/main" id="{CE3921F0-1EF9-3E63-E56D-9399100F3AA5}"/>
              </a:ext>
            </a:extLst>
          </p:cNvPr>
          <p:cNvSpPr/>
          <p:nvPr/>
        </p:nvSpPr>
        <p:spPr>
          <a:xfrm>
            <a:off x="2423468" y="7569092"/>
            <a:ext cx="3025389" cy="277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US" sz="1650">
                <a:solidFill>
                  <a:srgbClr val="DCD7E5"/>
                </a:solidFill>
                <a:latin typeface="Montserrat" panose="00000500000000000000" pitchFamily="2" charset="0"/>
                <a:cs typeface="Heebo Light"/>
              </a:rPr>
              <a:t>CS Engineer 2</a:t>
            </a:r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04704F37-874E-EA19-9C85-34FBF058CF42}"/>
              </a:ext>
            </a:extLst>
          </p:cNvPr>
          <p:cNvSpPr/>
          <p:nvPr/>
        </p:nvSpPr>
        <p:spPr>
          <a:xfrm>
            <a:off x="5775911" y="7110106"/>
            <a:ext cx="2591644" cy="269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00"/>
              </a:lnSpc>
            </a:pPr>
            <a:r>
              <a:rPr lang="en-US" sz="2050">
                <a:solidFill>
                  <a:srgbClr val="DCD7E5"/>
                </a:solidFill>
                <a:latin typeface="Montserrat" panose="00000500000000000000" pitchFamily="2" charset="0"/>
              </a:rPr>
              <a:t>Harsha Vardhan Reddy</a:t>
            </a:r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39" name="Text 12">
            <a:extLst>
              <a:ext uri="{FF2B5EF4-FFF2-40B4-BE49-F238E27FC236}">
                <a16:creationId xmlns:a16="http://schemas.microsoft.com/office/drawing/2014/main" id="{7327E1AD-CC68-FEA8-B9CD-424E2C676B4D}"/>
              </a:ext>
            </a:extLst>
          </p:cNvPr>
          <p:cNvSpPr/>
          <p:nvPr/>
        </p:nvSpPr>
        <p:spPr>
          <a:xfrm>
            <a:off x="5775911" y="7569092"/>
            <a:ext cx="3025389" cy="277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US" sz="1650">
                <a:solidFill>
                  <a:srgbClr val="DCD7E5"/>
                </a:solidFill>
                <a:latin typeface="Montserrat" panose="00000500000000000000" pitchFamily="2" charset="0"/>
                <a:cs typeface="Heebo Light"/>
              </a:rPr>
              <a:t>AI Engineer 3</a:t>
            </a:r>
            <a:endParaRPr lang="en-US">
              <a:latin typeface="Montserrat" panose="000005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240356-BFA8-9AA5-0A00-9A6F5230803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7619" b="27619"/>
          <a:stretch/>
        </p:blipFill>
        <p:spPr>
          <a:xfrm>
            <a:off x="9129164" y="4956211"/>
            <a:ext cx="3035919" cy="1865348"/>
          </a:xfrm>
          <a:prstGeom prst="rect">
            <a:avLst/>
          </a:prstGeom>
          <a:ln w="57150">
            <a:solidFill>
              <a:srgbClr val="30863D"/>
            </a:solidFill>
          </a:ln>
        </p:spPr>
      </p:pic>
      <p:pic>
        <p:nvPicPr>
          <p:cNvPr id="2" name="Picture 1" descr="A person in a suit standing in a hallway&#10;&#10;AI-generated content may be incorrect.">
            <a:extLst>
              <a:ext uri="{FF2B5EF4-FFF2-40B4-BE49-F238E27FC236}">
                <a16:creationId xmlns:a16="http://schemas.microsoft.com/office/drawing/2014/main" id="{62092C36-229B-596F-9DA1-F9079BD3A42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7420" t="30122" r="22131" b="47124"/>
          <a:stretch>
            <a:fillRect/>
          </a:stretch>
        </p:blipFill>
        <p:spPr>
          <a:xfrm>
            <a:off x="2425904" y="1626048"/>
            <a:ext cx="3028678" cy="187255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1A4FE92-B362-A15A-59C4-41B448D12CA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42" t="17839" r="-142" b="37059"/>
          <a:stretch>
            <a:fillRect/>
          </a:stretch>
        </p:blipFill>
        <p:spPr>
          <a:xfrm>
            <a:off x="5800861" y="4965247"/>
            <a:ext cx="3028678" cy="1872553"/>
          </a:xfrm>
          <a:prstGeom prst="rect">
            <a:avLst/>
          </a:prstGeom>
          <a:ln w="57150">
            <a:solidFill>
              <a:srgbClr val="30863D"/>
            </a:solidFill>
          </a:ln>
        </p:spPr>
      </p:pic>
      <p:pic>
        <p:nvPicPr>
          <p:cNvPr id="4" name="Picture 3" descr="A person in a suit leaning against a wall&#10;&#10;AI-generated content may be incorrect.">
            <a:extLst>
              <a:ext uri="{FF2B5EF4-FFF2-40B4-BE49-F238E27FC236}">
                <a16:creationId xmlns:a16="http://schemas.microsoft.com/office/drawing/2014/main" id="{B9589D89-8938-C2D5-7212-563C335785A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1581" t="2819" r="1891" b="49372"/>
          <a:stretch>
            <a:fillRect/>
          </a:stretch>
        </p:blipFill>
        <p:spPr>
          <a:xfrm>
            <a:off x="5781860" y="1618759"/>
            <a:ext cx="3026514" cy="1867195"/>
          </a:xfrm>
          <a:prstGeom prst="rect">
            <a:avLst/>
          </a:prstGeom>
          <a:ln w="57150">
            <a:solidFill>
              <a:srgbClr val="30863D"/>
            </a:solidFill>
          </a:ln>
        </p:spPr>
      </p:pic>
      <p:pic>
        <p:nvPicPr>
          <p:cNvPr id="8" name="Picture 7" descr="A person with purple hair&#10;&#10;AI-generated content may be incorrect.">
            <a:extLst>
              <a:ext uri="{FF2B5EF4-FFF2-40B4-BE49-F238E27FC236}">
                <a16:creationId xmlns:a16="http://schemas.microsoft.com/office/drawing/2014/main" id="{A9C43641-E6F6-6487-3FB9-FFC50E0B1E4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9153" b="19153"/>
          <a:stretch>
            <a:fillRect/>
          </a:stretch>
        </p:blipFill>
        <p:spPr>
          <a:xfrm>
            <a:off x="9130541" y="1631116"/>
            <a:ext cx="3026514" cy="1867195"/>
          </a:xfrm>
          <a:prstGeom prst="rect">
            <a:avLst/>
          </a:prstGeom>
          <a:ln w="57150">
            <a:solidFill>
              <a:srgbClr val="30863D"/>
            </a:solidFill>
          </a:ln>
        </p:spPr>
      </p:pic>
      <p:pic>
        <p:nvPicPr>
          <p:cNvPr id="10" name="Picture 9" descr="A person standing in front of trees with lights&#10;&#10;AI-generated content may be incorrect.">
            <a:extLst>
              <a:ext uri="{FF2B5EF4-FFF2-40B4-BE49-F238E27FC236}">
                <a16:creationId xmlns:a16="http://schemas.microsoft.com/office/drawing/2014/main" id="{CF095E95-E89E-67C7-B45F-FDF87EC29DD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35714" r="406" b="19345"/>
          <a:stretch>
            <a:fillRect/>
          </a:stretch>
        </p:blipFill>
        <p:spPr>
          <a:xfrm>
            <a:off x="2431802" y="4956211"/>
            <a:ext cx="3023579" cy="1870284"/>
          </a:xfrm>
          <a:prstGeom prst="rect">
            <a:avLst/>
          </a:prstGeom>
          <a:ln w="57150">
            <a:solidFill>
              <a:srgbClr val="30863D"/>
            </a:solidFill>
          </a:ln>
        </p:spPr>
      </p:pic>
    </p:spTree>
    <p:extLst>
      <p:ext uri="{BB962C8B-B14F-4D97-AF65-F5344CB8AC3E}">
        <p14:creationId xmlns:p14="http://schemas.microsoft.com/office/powerpoint/2010/main" val="1852766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EE6F7CE1-5850-6A85-6740-55CDC4532BAA}"/>
              </a:ext>
            </a:extLst>
          </p:cNvPr>
          <p:cNvSpPr/>
          <p:nvPr/>
        </p:nvSpPr>
        <p:spPr>
          <a:xfrm>
            <a:off x="793790" y="3827264"/>
            <a:ext cx="684168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The Market Opportunity</a:t>
            </a:r>
            <a:endParaRPr lang="en-US" sz="4450" dirty="0">
              <a:latin typeface="Montserrat" panose="00000500000000000000" pitchFamily="2" charset="0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A78B384F-21E1-5464-1FFA-56025639A838}"/>
              </a:ext>
            </a:extLst>
          </p:cNvPr>
          <p:cNvSpPr/>
          <p:nvPr/>
        </p:nvSpPr>
        <p:spPr>
          <a:xfrm>
            <a:off x="85725" y="4989552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5850"/>
              </a:lnSpc>
              <a:buNone/>
            </a:pPr>
            <a:r>
              <a:rPr lang="en-US" sz="5850">
                <a:solidFill>
                  <a:srgbClr val="DCD7E5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30K+</a:t>
            </a:r>
            <a:endParaRPr lang="en-US" sz="5850">
              <a:latin typeface="Montserrat" panose="00000500000000000000" pitchFamily="2" charset="0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E826BC44-1A73-63DB-3FAA-F6DD7877D535}"/>
              </a:ext>
            </a:extLst>
          </p:cNvPr>
          <p:cNvSpPr/>
          <p:nvPr/>
        </p:nvSpPr>
        <p:spPr>
          <a:xfrm>
            <a:off x="664845" y="6021348"/>
            <a:ext cx="300037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750"/>
              </a:lnSpc>
              <a:buNone/>
            </a:pPr>
            <a:r>
              <a:rPr lang="en-US" sz="2200">
                <a:solidFill>
                  <a:srgbClr val="DCD7E5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New traders monthly</a:t>
            </a:r>
            <a:endParaRPr lang="en-US" sz="2200">
              <a:latin typeface="Montserrat" panose="00000500000000000000" pitchFamily="2" charset="0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50B11E92-65A1-8F01-D17B-1092EC70E778}"/>
              </a:ext>
            </a:extLst>
          </p:cNvPr>
          <p:cNvSpPr/>
          <p:nvPr/>
        </p:nvSpPr>
        <p:spPr>
          <a:xfrm>
            <a:off x="85725" y="6511766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850"/>
              </a:lnSpc>
              <a:buNone/>
            </a:pPr>
            <a:r>
              <a:rPr lang="en-US" sz="1750">
                <a:solidFill>
                  <a:srgbClr val="DCD7E5"/>
                </a:solidFill>
                <a:latin typeface="Montserrat" panose="00000500000000000000" pitchFamily="2" charset="0"/>
                <a:ea typeface="Heebo Light" pitchFamily="34" charset="-122"/>
                <a:cs typeface="Heebo Light" pitchFamily="34" charset="-120"/>
              </a:rPr>
              <a:t>Approximately across major Australian markets and platforms</a:t>
            </a:r>
            <a:endParaRPr lang="en-US" sz="1750">
              <a:latin typeface="Montserrat" panose="00000500000000000000" pitchFamily="2" charset="0"/>
            </a:endParaRPr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B7463AA3-2644-3C36-792A-A20C63FB153D}"/>
              </a:ext>
            </a:extLst>
          </p:cNvPr>
          <p:cNvSpPr/>
          <p:nvPr/>
        </p:nvSpPr>
        <p:spPr>
          <a:xfrm>
            <a:off x="5235893" y="4989552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5850"/>
              </a:lnSpc>
              <a:buNone/>
            </a:pPr>
            <a:r>
              <a:rPr lang="en-US" sz="5850">
                <a:solidFill>
                  <a:srgbClr val="DCD7E5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A$ 1500 per user</a:t>
            </a:r>
            <a:endParaRPr lang="en-US" sz="5850">
              <a:latin typeface="Montserrat" panose="00000500000000000000" pitchFamily="2" charset="0"/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CC2B9115-3F4E-31DF-9781-034AAA32603F}"/>
              </a:ext>
            </a:extLst>
          </p:cNvPr>
          <p:cNvSpPr/>
          <p:nvPr/>
        </p:nvSpPr>
        <p:spPr>
          <a:xfrm>
            <a:off x="5673566" y="6021348"/>
            <a:ext cx="328314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750"/>
              </a:lnSpc>
              <a:buNone/>
            </a:pPr>
            <a:r>
              <a:rPr lang="en-US" sz="2200">
                <a:solidFill>
                  <a:srgbClr val="DCD7E5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Trading losses annually</a:t>
            </a:r>
            <a:endParaRPr lang="en-US" sz="2200">
              <a:latin typeface="Montserrat" panose="00000500000000000000" pitchFamily="2" charset="0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38EAFC10-2724-F6CD-B553-366AA667395C}"/>
              </a:ext>
            </a:extLst>
          </p:cNvPr>
          <p:cNvSpPr/>
          <p:nvPr/>
        </p:nvSpPr>
        <p:spPr>
          <a:xfrm>
            <a:off x="5235893" y="6511766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850"/>
              </a:lnSpc>
              <a:buNone/>
            </a:pPr>
            <a:r>
              <a:rPr lang="en-US" sz="1750">
                <a:solidFill>
                  <a:srgbClr val="DCD7E5"/>
                </a:solidFill>
                <a:latin typeface="Montserrat" panose="00000500000000000000" pitchFamily="2" charset="0"/>
                <a:ea typeface="Heebo Light" pitchFamily="34" charset="-122"/>
                <a:cs typeface="Heebo Light" pitchFamily="34" charset="-120"/>
              </a:rPr>
              <a:t>Beginner traders in Australia due to lack of education</a:t>
            </a:r>
            <a:endParaRPr lang="en-US" sz="1750">
              <a:latin typeface="Montserrat" panose="00000500000000000000" pitchFamily="2" charset="0"/>
            </a:endParaRP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80F611C6-CAD2-A81D-A57E-A2EF583716AD}"/>
              </a:ext>
            </a:extLst>
          </p:cNvPr>
          <p:cNvSpPr/>
          <p:nvPr/>
        </p:nvSpPr>
        <p:spPr>
          <a:xfrm>
            <a:off x="10386061" y="5020152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5850"/>
              </a:lnSpc>
              <a:buNone/>
            </a:pPr>
            <a:r>
              <a:rPr lang="en-US" sz="5850">
                <a:solidFill>
                  <a:srgbClr val="DCD7E5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60%+</a:t>
            </a:r>
            <a:endParaRPr lang="en-US" sz="5850">
              <a:latin typeface="Montserrat" panose="00000500000000000000" pitchFamily="2" charset="0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68BEFC54-73AB-A25B-B636-4A0D981ECBE3}"/>
              </a:ext>
            </a:extLst>
          </p:cNvPr>
          <p:cNvSpPr/>
          <p:nvPr/>
        </p:nvSpPr>
        <p:spPr>
          <a:xfrm>
            <a:off x="10656333" y="6051948"/>
            <a:ext cx="361807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750"/>
              </a:lnSpc>
              <a:buNone/>
            </a:pPr>
            <a:r>
              <a:rPr lang="en-US" sz="2200">
                <a:solidFill>
                  <a:srgbClr val="DCD7E5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Without proper guidance</a:t>
            </a:r>
            <a:endParaRPr lang="en-US" sz="2200">
              <a:latin typeface="Montserrat" panose="00000500000000000000" pitchFamily="2" charset="0"/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20F03918-DAC2-3ACC-6712-D1F4804EF284}"/>
              </a:ext>
            </a:extLst>
          </p:cNvPr>
          <p:cNvSpPr/>
          <p:nvPr/>
        </p:nvSpPr>
        <p:spPr>
          <a:xfrm>
            <a:off x="10386061" y="6542366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850"/>
              </a:lnSpc>
              <a:buNone/>
            </a:pPr>
            <a:r>
              <a:rPr lang="en-US" sz="1750">
                <a:solidFill>
                  <a:srgbClr val="DCD7E5"/>
                </a:solidFill>
                <a:latin typeface="Montserrat" panose="00000500000000000000" pitchFamily="2" charset="0"/>
                <a:ea typeface="Heebo Light" pitchFamily="34" charset="-122"/>
                <a:cs typeface="Heebo Light" pitchFamily="34" charset="-120"/>
              </a:rPr>
              <a:t>Traders entering markets lack formal financial education or mentorship</a:t>
            </a:r>
            <a:endParaRPr lang="en-US" sz="1750">
              <a:latin typeface="Montserrat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149546-A900-E383-AB34-9FF9B616965E}"/>
              </a:ext>
            </a:extLst>
          </p:cNvPr>
          <p:cNvSpPr txBox="1"/>
          <p:nvPr/>
        </p:nvSpPr>
        <p:spPr>
          <a:xfrm>
            <a:off x="7828670" y="7735254"/>
            <a:ext cx="8294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solidFill>
                  <a:srgbClr val="DCD7E5"/>
                </a:solidFill>
                <a:latin typeface="Montserrat" panose="00000500000000000000" pitchFamily="2" charset="0"/>
              </a:rPr>
              <a:t>* The numbers displayed are approximate numbers calculated from references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E3D08C9-26DB-7703-DFC3-EF57B9A698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386" b="6990"/>
          <a:stretch>
            <a:fillRect/>
          </a:stretch>
        </p:blipFill>
        <p:spPr>
          <a:xfrm>
            <a:off x="-42569" y="31414"/>
            <a:ext cx="14630400" cy="3022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030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93B656CB-79BC-8D4C-653C-A24261ED4F7E}"/>
              </a:ext>
            </a:extLst>
          </p:cNvPr>
          <p:cNvSpPr/>
          <p:nvPr/>
        </p:nvSpPr>
        <p:spPr>
          <a:xfrm>
            <a:off x="713184" y="3107531"/>
            <a:ext cx="9789795" cy="636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F2F0F4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The Problem: Why Beginners Struggle</a:t>
            </a:r>
            <a:endParaRPr lang="en-US" sz="4000" dirty="0">
              <a:latin typeface="Montserrat" panose="00000500000000000000" pitchFamily="2" charset="0"/>
            </a:endParaRPr>
          </a:p>
        </p:txBody>
      </p:sp>
      <p:pic>
        <p:nvPicPr>
          <p:cNvPr id="6" name="Image 1">
            <a:extLst>
              <a:ext uri="{FF2B5EF4-FFF2-40B4-BE49-F238E27FC236}">
                <a16:creationId xmlns:a16="http://schemas.microsoft.com/office/drawing/2014/main" id="{25C187D7-C2DD-F73B-AD04-DC7367B5C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24" y="4049911"/>
            <a:ext cx="91440" cy="1871901"/>
          </a:xfrm>
          <a:prstGeom prst="rect">
            <a:avLst/>
          </a:prstGeom>
          <a:solidFill>
            <a:srgbClr val="002B1C"/>
          </a:solidFill>
        </p:spPr>
      </p:pic>
      <p:sp>
        <p:nvSpPr>
          <p:cNvPr id="8" name="Text 2">
            <a:extLst>
              <a:ext uri="{FF2B5EF4-FFF2-40B4-BE49-F238E27FC236}">
                <a16:creationId xmlns:a16="http://schemas.microsoft.com/office/drawing/2014/main" id="{58391223-9644-16EE-62E2-9257C6EC4CEF}"/>
              </a:ext>
            </a:extLst>
          </p:cNvPr>
          <p:cNvSpPr/>
          <p:nvPr/>
        </p:nvSpPr>
        <p:spPr>
          <a:xfrm>
            <a:off x="1008340" y="4276487"/>
            <a:ext cx="2547223" cy="318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500"/>
              </a:lnSpc>
              <a:buNone/>
            </a:pPr>
            <a:r>
              <a:rPr lang="en-US" sz="2000">
                <a:solidFill>
                  <a:srgbClr val="DCD7E5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Information Gap</a:t>
            </a:r>
            <a:endParaRPr lang="en-US" sz="2000">
              <a:latin typeface="Montserrat" panose="00000500000000000000" pitchFamily="2" charset="0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E42FD63F-DE4D-A9AD-2144-171C82E8128E}"/>
              </a:ext>
            </a:extLst>
          </p:cNvPr>
          <p:cNvSpPr/>
          <p:nvPr/>
        </p:nvSpPr>
        <p:spPr>
          <a:xfrm>
            <a:off x="1008340" y="4716899"/>
            <a:ext cx="5978366" cy="978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550"/>
              </a:lnSpc>
              <a:buNone/>
            </a:pPr>
            <a:r>
              <a:rPr lang="en-US" sz="1600">
                <a:solidFill>
                  <a:srgbClr val="DCD7E5"/>
                </a:solidFill>
                <a:latin typeface="Montserrat" panose="00000500000000000000" pitchFamily="2" charset="0"/>
                <a:ea typeface="Heebo Light" pitchFamily="34" charset="-122"/>
                <a:cs typeface="Heebo Light" pitchFamily="34" charset="-120"/>
              </a:rPr>
              <a:t>Generic YouTube channels teach broad strategies without assessing individual risk tolerance, budget constraints, or market conditions.</a:t>
            </a:r>
            <a:endParaRPr lang="en-US" sz="1600">
              <a:latin typeface="Montserrat" panose="00000500000000000000" pitchFamily="2" charset="0"/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57FB11D2-A569-95A7-58B6-2C1BDCF0EB2D}"/>
              </a:ext>
            </a:extLst>
          </p:cNvPr>
          <p:cNvSpPr/>
          <p:nvPr/>
        </p:nvSpPr>
        <p:spPr>
          <a:xfrm>
            <a:off x="7712154" y="4276487"/>
            <a:ext cx="2685336" cy="318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500"/>
              </a:lnSpc>
              <a:buNone/>
            </a:pPr>
            <a:r>
              <a:rPr lang="en-US" sz="2000">
                <a:solidFill>
                  <a:srgbClr val="DCD7E5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Unreliable Resources</a:t>
            </a:r>
            <a:endParaRPr lang="en-US" sz="2000">
              <a:latin typeface="Montserrat" panose="00000500000000000000" pitchFamily="2" charset="0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B856220F-6351-BE64-9125-B99E6F3B1D0A}"/>
              </a:ext>
            </a:extLst>
          </p:cNvPr>
          <p:cNvSpPr/>
          <p:nvPr/>
        </p:nvSpPr>
        <p:spPr>
          <a:xfrm>
            <a:off x="7712154" y="4716899"/>
            <a:ext cx="5978485" cy="65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550"/>
              </a:lnSpc>
              <a:buNone/>
            </a:pPr>
            <a:r>
              <a:rPr lang="en-US" sz="1600">
                <a:solidFill>
                  <a:srgbClr val="DCD7E5"/>
                </a:solidFill>
                <a:latin typeface="Montserrat" panose="00000500000000000000" pitchFamily="2" charset="0"/>
                <a:ea typeface="Heebo Light" pitchFamily="34" charset="-122"/>
                <a:cs typeface="Heebo Light" pitchFamily="34" charset="-120"/>
              </a:rPr>
              <a:t>Scattered, outdated, or biased trading advice leads to poor portfolio decisions and significant financial losses.</a:t>
            </a:r>
            <a:endParaRPr lang="en-US" sz="1600">
              <a:latin typeface="Montserrat" panose="00000500000000000000" pitchFamily="2" charset="0"/>
            </a:endParaRPr>
          </a:p>
        </p:txBody>
      </p:sp>
      <p:pic>
        <p:nvPicPr>
          <p:cNvPr id="18" name="Image 3">
            <a:extLst>
              <a:ext uri="{FF2B5EF4-FFF2-40B4-BE49-F238E27FC236}">
                <a16:creationId xmlns:a16="http://schemas.microsoft.com/office/drawing/2014/main" id="{11C1356F-314F-1025-D639-EA0D0C5ED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24" y="6125527"/>
            <a:ext cx="91440" cy="1545788"/>
          </a:xfrm>
          <a:prstGeom prst="rect">
            <a:avLst/>
          </a:prstGeom>
        </p:spPr>
      </p:pic>
      <p:sp>
        <p:nvSpPr>
          <p:cNvPr id="20" name="Text 8">
            <a:extLst>
              <a:ext uri="{FF2B5EF4-FFF2-40B4-BE49-F238E27FC236}">
                <a16:creationId xmlns:a16="http://schemas.microsoft.com/office/drawing/2014/main" id="{FA14144B-A448-A843-0EB5-DE8A7BF197E1}"/>
              </a:ext>
            </a:extLst>
          </p:cNvPr>
          <p:cNvSpPr/>
          <p:nvPr/>
        </p:nvSpPr>
        <p:spPr>
          <a:xfrm>
            <a:off x="1008340" y="6352103"/>
            <a:ext cx="2547223" cy="318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500"/>
              </a:lnSpc>
              <a:buNone/>
            </a:pPr>
            <a:r>
              <a:rPr lang="en-US" sz="2000">
                <a:solidFill>
                  <a:srgbClr val="DCD7E5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Scam Vulnerability</a:t>
            </a:r>
            <a:endParaRPr lang="en-US" sz="2000">
              <a:latin typeface="Montserrat" panose="00000500000000000000" pitchFamily="2" charset="0"/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294E43CF-7DCD-8924-BA01-25DE7038CA36}"/>
              </a:ext>
            </a:extLst>
          </p:cNvPr>
          <p:cNvSpPr/>
          <p:nvPr/>
        </p:nvSpPr>
        <p:spPr>
          <a:xfrm>
            <a:off x="1008340" y="6792516"/>
            <a:ext cx="5978366" cy="65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550"/>
              </a:lnSpc>
              <a:buNone/>
            </a:pPr>
            <a:r>
              <a:rPr lang="en-US" sz="1600">
                <a:solidFill>
                  <a:srgbClr val="DCD7E5"/>
                </a:solidFill>
                <a:latin typeface="Montserrat" panose="00000500000000000000" pitchFamily="2" charset="0"/>
                <a:ea typeface="Heebo Light" pitchFamily="34" charset="-122"/>
                <a:cs typeface="Heebo Light" pitchFamily="34" charset="-120"/>
              </a:rPr>
              <a:t>Inexperienced traders fall prey to fraudulent schemes, pump-and-dump tactics, and predatory trading systems.</a:t>
            </a:r>
            <a:endParaRPr lang="en-US" sz="1600">
              <a:latin typeface="Montserrat" panose="00000500000000000000" pitchFamily="2" charset="0"/>
            </a:endParaRPr>
          </a:p>
        </p:txBody>
      </p:sp>
      <p:pic>
        <p:nvPicPr>
          <p:cNvPr id="24" name="Image 4">
            <a:extLst>
              <a:ext uri="{FF2B5EF4-FFF2-40B4-BE49-F238E27FC236}">
                <a16:creationId xmlns:a16="http://schemas.microsoft.com/office/drawing/2014/main" id="{7F69C155-0350-B2F9-428B-60E3C3BF7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4138" y="6125527"/>
            <a:ext cx="91440" cy="1545788"/>
          </a:xfrm>
          <a:prstGeom prst="rect">
            <a:avLst/>
          </a:prstGeom>
        </p:spPr>
      </p:pic>
      <p:sp>
        <p:nvSpPr>
          <p:cNvPr id="25" name="Text 11">
            <a:extLst>
              <a:ext uri="{FF2B5EF4-FFF2-40B4-BE49-F238E27FC236}">
                <a16:creationId xmlns:a16="http://schemas.microsoft.com/office/drawing/2014/main" id="{D4A2E27A-AA57-917B-DD51-B4A795377859}"/>
              </a:ext>
            </a:extLst>
          </p:cNvPr>
          <p:cNvSpPr/>
          <p:nvPr/>
        </p:nvSpPr>
        <p:spPr>
          <a:xfrm>
            <a:off x="7712154" y="6352103"/>
            <a:ext cx="2547223" cy="318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500"/>
              </a:lnSpc>
              <a:buNone/>
            </a:pPr>
            <a:r>
              <a:rPr lang="en-US" sz="2000">
                <a:solidFill>
                  <a:srgbClr val="DCD7E5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No Personalization</a:t>
            </a:r>
            <a:endParaRPr lang="en-US" sz="2000">
              <a:latin typeface="Montserrat" panose="00000500000000000000" pitchFamily="2" charset="0"/>
            </a:endParaRPr>
          </a:p>
        </p:txBody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DC9C9BB7-EE6D-4F75-F4D6-C08F443F5F56}"/>
              </a:ext>
            </a:extLst>
          </p:cNvPr>
          <p:cNvSpPr/>
          <p:nvPr/>
        </p:nvSpPr>
        <p:spPr>
          <a:xfrm>
            <a:off x="7712154" y="6792516"/>
            <a:ext cx="5978485" cy="65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550"/>
              </a:lnSpc>
              <a:buNone/>
            </a:pPr>
            <a:r>
              <a:rPr lang="en-US" sz="1600">
                <a:solidFill>
                  <a:srgbClr val="DCD7E5"/>
                </a:solidFill>
                <a:latin typeface="Montserrat" panose="00000500000000000000" pitchFamily="2" charset="0"/>
                <a:ea typeface="Heebo Light" pitchFamily="34" charset="-122"/>
                <a:cs typeface="Heebo Light" pitchFamily="34" charset="-120"/>
              </a:rPr>
              <a:t>One-size-fits-all platforms ignore unique circumstances, leaving beginners exposed to excessive risk exposure.</a:t>
            </a:r>
            <a:endParaRPr lang="en-US" sz="1600">
              <a:latin typeface="Montserrat" panose="000005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695135-5EB3-15B1-BADE-91F999DD292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5690" b="35690"/>
          <a:stretch/>
        </p:blipFill>
        <p:spPr>
          <a:xfrm>
            <a:off x="0" y="26152"/>
            <a:ext cx="14630400" cy="279283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5E19633-6AB5-0BE2-64E3-A910C1CF1DFC}"/>
              </a:ext>
            </a:extLst>
          </p:cNvPr>
          <p:cNvSpPr/>
          <p:nvPr/>
        </p:nvSpPr>
        <p:spPr>
          <a:xfrm>
            <a:off x="7394139" y="4049910"/>
            <a:ext cx="91440" cy="1871902"/>
          </a:xfrm>
          <a:prstGeom prst="rect">
            <a:avLst/>
          </a:prstGeom>
          <a:solidFill>
            <a:srgbClr val="30863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CA1B35-9A73-3896-42E6-293898B9B319}"/>
              </a:ext>
            </a:extLst>
          </p:cNvPr>
          <p:cNvSpPr/>
          <p:nvPr/>
        </p:nvSpPr>
        <p:spPr>
          <a:xfrm>
            <a:off x="7394138" y="6125527"/>
            <a:ext cx="91440" cy="1545788"/>
          </a:xfrm>
          <a:prstGeom prst="rect">
            <a:avLst/>
          </a:prstGeom>
          <a:solidFill>
            <a:srgbClr val="30863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839BA2-24AF-C1FA-0D27-CBA76EF40290}"/>
              </a:ext>
            </a:extLst>
          </p:cNvPr>
          <p:cNvSpPr/>
          <p:nvPr/>
        </p:nvSpPr>
        <p:spPr>
          <a:xfrm>
            <a:off x="690324" y="4049910"/>
            <a:ext cx="91440" cy="1871902"/>
          </a:xfrm>
          <a:prstGeom prst="rect">
            <a:avLst/>
          </a:prstGeom>
          <a:solidFill>
            <a:srgbClr val="30863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A1BD2A-1E68-6B97-AE8D-C86D1125EECC}"/>
              </a:ext>
            </a:extLst>
          </p:cNvPr>
          <p:cNvSpPr/>
          <p:nvPr/>
        </p:nvSpPr>
        <p:spPr>
          <a:xfrm>
            <a:off x="690452" y="6125527"/>
            <a:ext cx="91440" cy="1545788"/>
          </a:xfrm>
          <a:prstGeom prst="rect">
            <a:avLst/>
          </a:prstGeom>
          <a:solidFill>
            <a:srgbClr val="30863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7043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FF2B5EF4-FFF2-40B4-BE49-F238E27FC236}">
                <a16:creationId xmlns:a16="http://schemas.microsoft.com/office/drawing/2014/main" id="{9B1ED2BE-988F-5FEA-0445-CD427A649B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696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DDF5DE9B-4F60-87C5-BAD0-42A9B2DD742F}"/>
              </a:ext>
            </a:extLst>
          </p:cNvPr>
          <p:cNvSpPr/>
          <p:nvPr/>
        </p:nvSpPr>
        <p:spPr>
          <a:xfrm>
            <a:off x="5888178" y="1091124"/>
            <a:ext cx="7998365" cy="954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500">
                <a:solidFill>
                  <a:srgbClr val="F2F0F4"/>
                </a:solidFill>
                <a:latin typeface="Montserrat" panose="00000500000000000000" pitchFamily="2" charset="0"/>
              </a:rPr>
              <a:t>How </a:t>
            </a:r>
            <a:r>
              <a:rPr lang="en-US" sz="4500" err="1">
                <a:solidFill>
                  <a:srgbClr val="F2F0F4"/>
                </a:solidFill>
                <a:latin typeface="Montserrat" panose="00000500000000000000" pitchFamily="2" charset="0"/>
              </a:rPr>
              <a:t>WealthArena</a:t>
            </a:r>
            <a:r>
              <a:rPr lang="en-US" sz="4500">
                <a:solidFill>
                  <a:srgbClr val="F2F0F4"/>
                </a:solidFill>
                <a:latin typeface="Montserrat" panose="00000500000000000000" pitchFamily="2" charset="0"/>
              </a:rPr>
              <a:t> Solves This</a:t>
            </a:r>
            <a:endParaRPr lang="en-US" sz="450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marL="0" indent="0" algn="l">
              <a:lnSpc>
                <a:spcPts val="3400"/>
              </a:lnSpc>
              <a:buNone/>
            </a:pPr>
            <a:endParaRPr lang="en-US" sz="2700">
              <a:solidFill>
                <a:srgbClr val="F2F0F4"/>
              </a:solidFill>
              <a:latin typeface="Montserrat" panose="00000500000000000000" pitchFamily="2" charset="0"/>
            </a:endParaRPr>
          </a:p>
        </p:txBody>
      </p:sp>
      <p:sp>
        <p:nvSpPr>
          <p:cNvPr id="97" name="Shape 1">
            <a:extLst>
              <a:ext uri="{FF2B5EF4-FFF2-40B4-BE49-F238E27FC236}">
                <a16:creationId xmlns:a16="http://schemas.microsoft.com/office/drawing/2014/main" id="{E5F2390F-BAD1-516A-0D0B-CE3E425D7D6C}"/>
              </a:ext>
            </a:extLst>
          </p:cNvPr>
          <p:cNvSpPr/>
          <p:nvPr/>
        </p:nvSpPr>
        <p:spPr>
          <a:xfrm>
            <a:off x="5890325" y="2933675"/>
            <a:ext cx="4196358" cy="2047994"/>
          </a:xfrm>
          <a:prstGeom prst="roundRect">
            <a:avLst>
              <a:gd name="adj" fmla="val 26581"/>
            </a:avLst>
          </a:prstGeom>
          <a:solidFill>
            <a:srgbClr val="30863D"/>
          </a:solidFill>
          <a:ln w="762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99" name="Text 2">
            <a:extLst>
              <a:ext uri="{FF2B5EF4-FFF2-40B4-BE49-F238E27FC236}">
                <a16:creationId xmlns:a16="http://schemas.microsoft.com/office/drawing/2014/main" id="{96CBB503-7D1B-75D7-E008-FED57564DEB5}"/>
              </a:ext>
            </a:extLst>
          </p:cNvPr>
          <p:cNvSpPr/>
          <p:nvPr/>
        </p:nvSpPr>
        <p:spPr>
          <a:xfrm>
            <a:off x="6124759" y="3168109"/>
            <a:ext cx="3927723" cy="748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000000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📚</a:t>
            </a:r>
            <a:r>
              <a:rPr lang="en-US" sz="2200">
                <a:solidFill>
                  <a:srgbClr val="DCD7E5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 Personalized Education</a:t>
            </a:r>
            <a:endParaRPr lang="en-US" sz="2200">
              <a:latin typeface="Montserrat" panose="00000500000000000000" pitchFamily="2" charset="0"/>
            </a:endParaRPr>
          </a:p>
        </p:txBody>
      </p:sp>
      <p:sp>
        <p:nvSpPr>
          <p:cNvPr id="101" name="Text 3">
            <a:extLst>
              <a:ext uri="{FF2B5EF4-FFF2-40B4-BE49-F238E27FC236}">
                <a16:creationId xmlns:a16="http://schemas.microsoft.com/office/drawing/2014/main" id="{137BFA67-E5FF-9E6B-B196-2347294CF6A5}"/>
              </a:ext>
            </a:extLst>
          </p:cNvPr>
          <p:cNvSpPr/>
          <p:nvPr/>
        </p:nvSpPr>
        <p:spPr>
          <a:xfrm>
            <a:off x="6405086" y="3705833"/>
            <a:ext cx="3467186" cy="752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DCD7E5"/>
                </a:solidFill>
                <a:latin typeface="Montserrat" panose="00000500000000000000" pitchFamily="2" charset="0"/>
                <a:ea typeface="Heebo Light" pitchFamily="34" charset="-122"/>
                <a:cs typeface="Heebo Light" pitchFamily="34" charset="-120"/>
              </a:rPr>
              <a:t>Interactive games and structured courses tailored to learning style</a:t>
            </a:r>
            <a:endParaRPr lang="en-US" sz="1750">
              <a:latin typeface="Montserrat" panose="00000500000000000000" pitchFamily="2" charset="0"/>
            </a:endParaRPr>
          </a:p>
        </p:txBody>
      </p:sp>
      <p:sp>
        <p:nvSpPr>
          <p:cNvPr id="103" name="Shape 4">
            <a:extLst>
              <a:ext uri="{FF2B5EF4-FFF2-40B4-BE49-F238E27FC236}">
                <a16:creationId xmlns:a16="http://schemas.microsoft.com/office/drawing/2014/main" id="{DB87853C-E4A3-A55E-60D0-6F2B21BEE7AD}"/>
              </a:ext>
            </a:extLst>
          </p:cNvPr>
          <p:cNvSpPr/>
          <p:nvPr/>
        </p:nvSpPr>
        <p:spPr>
          <a:xfrm>
            <a:off x="10313497" y="2933675"/>
            <a:ext cx="4196358" cy="2047994"/>
          </a:xfrm>
          <a:prstGeom prst="roundRect">
            <a:avLst>
              <a:gd name="adj" fmla="val 26581"/>
            </a:avLst>
          </a:prstGeom>
          <a:solidFill>
            <a:srgbClr val="30863D"/>
          </a:solidFill>
          <a:ln w="762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105" name="Text 5">
            <a:extLst>
              <a:ext uri="{FF2B5EF4-FFF2-40B4-BE49-F238E27FC236}">
                <a16:creationId xmlns:a16="http://schemas.microsoft.com/office/drawing/2014/main" id="{F8161FA8-9084-4A2E-3962-D839A73F9C3C}"/>
              </a:ext>
            </a:extLst>
          </p:cNvPr>
          <p:cNvSpPr/>
          <p:nvPr/>
        </p:nvSpPr>
        <p:spPr>
          <a:xfrm>
            <a:off x="10547931" y="3168109"/>
            <a:ext cx="318349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000000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🤖</a:t>
            </a:r>
            <a:r>
              <a:rPr lang="en-US" sz="2200">
                <a:solidFill>
                  <a:srgbClr val="DCD7E5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 AI Chatbot</a:t>
            </a:r>
            <a:endParaRPr lang="en-US" sz="2200">
              <a:latin typeface="Montserrat" panose="00000500000000000000" pitchFamily="2" charset="0"/>
            </a:endParaRPr>
          </a:p>
        </p:txBody>
      </p:sp>
      <p:sp>
        <p:nvSpPr>
          <p:cNvPr id="107" name="Text 6">
            <a:extLst>
              <a:ext uri="{FF2B5EF4-FFF2-40B4-BE49-F238E27FC236}">
                <a16:creationId xmlns:a16="http://schemas.microsoft.com/office/drawing/2014/main" id="{4C6C9F7E-BE7F-C62C-F4B2-6DDBA289D1C4}"/>
              </a:ext>
            </a:extLst>
          </p:cNvPr>
          <p:cNvSpPr/>
          <p:nvPr/>
        </p:nvSpPr>
        <p:spPr>
          <a:xfrm>
            <a:off x="10547931" y="3658527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DCD7E5"/>
                </a:solidFill>
                <a:latin typeface="Montserrat" panose="00000500000000000000" pitchFamily="2" charset="0"/>
                <a:ea typeface="Heebo Light" pitchFamily="34" charset="-122"/>
                <a:cs typeface="Heebo Light" pitchFamily="34" charset="-120"/>
              </a:rPr>
              <a:t>24/7 instant answers to trading questions, risk assessment, and guidance</a:t>
            </a:r>
            <a:endParaRPr lang="en-US" sz="1750">
              <a:latin typeface="Montserrat" panose="00000500000000000000" pitchFamily="2" charset="0"/>
            </a:endParaRPr>
          </a:p>
        </p:txBody>
      </p:sp>
      <p:sp>
        <p:nvSpPr>
          <p:cNvPr id="109" name="Shape 7">
            <a:extLst>
              <a:ext uri="{FF2B5EF4-FFF2-40B4-BE49-F238E27FC236}">
                <a16:creationId xmlns:a16="http://schemas.microsoft.com/office/drawing/2014/main" id="{7BE0DBC7-7B59-5F3D-352C-2B88D1130D40}"/>
              </a:ext>
            </a:extLst>
          </p:cNvPr>
          <p:cNvSpPr/>
          <p:nvPr/>
        </p:nvSpPr>
        <p:spPr>
          <a:xfrm>
            <a:off x="8216599" y="5232390"/>
            <a:ext cx="4196358" cy="2047994"/>
          </a:xfrm>
          <a:prstGeom prst="roundRect">
            <a:avLst>
              <a:gd name="adj" fmla="val 26581"/>
            </a:avLst>
          </a:prstGeom>
          <a:solidFill>
            <a:srgbClr val="30863D"/>
          </a:solidFill>
          <a:ln w="762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111" name="Text 8">
            <a:extLst>
              <a:ext uri="{FF2B5EF4-FFF2-40B4-BE49-F238E27FC236}">
                <a16:creationId xmlns:a16="http://schemas.microsoft.com/office/drawing/2014/main" id="{02532EC8-4988-8BA9-C222-E327295BCCE0}"/>
              </a:ext>
            </a:extLst>
          </p:cNvPr>
          <p:cNvSpPr/>
          <p:nvPr/>
        </p:nvSpPr>
        <p:spPr>
          <a:xfrm>
            <a:off x="8451033" y="5466824"/>
            <a:ext cx="36958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000000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📊</a:t>
            </a:r>
            <a:r>
              <a:rPr lang="en-US" sz="2200">
                <a:solidFill>
                  <a:srgbClr val="DCD7E5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 Smart Portfolio Builder</a:t>
            </a:r>
            <a:endParaRPr lang="en-US" sz="2200">
              <a:latin typeface="Montserrat" panose="00000500000000000000" pitchFamily="2" charset="0"/>
            </a:endParaRPr>
          </a:p>
        </p:txBody>
      </p:sp>
      <p:sp>
        <p:nvSpPr>
          <p:cNvPr id="113" name="Text 9">
            <a:extLst>
              <a:ext uri="{FF2B5EF4-FFF2-40B4-BE49-F238E27FC236}">
                <a16:creationId xmlns:a16="http://schemas.microsoft.com/office/drawing/2014/main" id="{2F307F77-1584-6912-16F7-A6B92B780CC4}"/>
              </a:ext>
            </a:extLst>
          </p:cNvPr>
          <p:cNvSpPr/>
          <p:nvPr/>
        </p:nvSpPr>
        <p:spPr>
          <a:xfrm>
            <a:off x="8451033" y="5957243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DCD7E5"/>
                </a:solidFill>
                <a:latin typeface="Montserrat" panose="00000500000000000000" pitchFamily="2" charset="0"/>
                <a:ea typeface="Heebo Light" pitchFamily="34" charset="-122"/>
                <a:cs typeface="Heebo Light" pitchFamily="34" charset="-120"/>
              </a:rPr>
              <a:t>Risk-based recommendations analyzing budget and investment goals</a:t>
            </a:r>
            <a:endParaRPr lang="en-US" sz="175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7163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D85ED-E989-E727-49FB-36FFD4CFA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2">
            <a:extLst>
              <a:ext uri="{FF2B5EF4-FFF2-40B4-BE49-F238E27FC236}">
                <a16:creationId xmlns:a16="http://schemas.microsoft.com/office/drawing/2014/main" id="{F21E7111-DE8B-CF55-536B-B8FBE5A5C152}"/>
              </a:ext>
            </a:extLst>
          </p:cNvPr>
          <p:cNvSpPr/>
          <p:nvPr/>
        </p:nvSpPr>
        <p:spPr>
          <a:xfrm>
            <a:off x="881063" y="2553652"/>
            <a:ext cx="4130040" cy="2338745"/>
          </a:xfrm>
          <a:prstGeom prst="roundRect">
            <a:avLst>
              <a:gd name="adj" fmla="val 15340"/>
            </a:avLst>
          </a:prstGeom>
          <a:solidFill>
            <a:srgbClr val="0A081B"/>
          </a:solidFill>
          <a:ln w="22860">
            <a:solidFill>
              <a:srgbClr val="16FFBB"/>
            </a:solidFill>
            <a:prstDash val="solid"/>
          </a:ln>
        </p:spPr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52" name="Shape 3">
            <a:extLst>
              <a:ext uri="{FF2B5EF4-FFF2-40B4-BE49-F238E27FC236}">
                <a16:creationId xmlns:a16="http://schemas.microsoft.com/office/drawing/2014/main" id="{7F07DD8B-C36A-CB1B-8491-BD62424AA4F4}"/>
              </a:ext>
            </a:extLst>
          </p:cNvPr>
          <p:cNvSpPr/>
          <p:nvPr/>
        </p:nvSpPr>
        <p:spPr>
          <a:xfrm>
            <a:off x="1143000" y="2815590"/>
            <a:ext cx="717471" cy="717471"/>
          </a:xfrm>
          <a:prstGeom prst="roundRect">
            <a:avLst>
              <a:gd name="adj" fmla="val 12743492"/>
            </a:avLst>
          </a:prstGeom>
          <a:solidFill>
            <a:srgbClr val="16FFBB"/>
          </a:solidFill>
          <a:ln/>
        </p:spPr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pic>
        <p:nvPicPr>
          <p:cNvPr id="53" name="Image 0" descr="preencoded.png">
            <a:extLst>
              <a:ext uri="{FF2B5EF4-FFF2-40B4-BE49-F238E27FC236}">
                <a16:creationId xmlns:a16="http://schemas.microsoft.com/office/drawing/2014/main" id="{F5E73D4D-31AF-1226-4D5F-6B7AB82A77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40287" y="3012877"/>
            <a:ext cx="322778" cy="322778"/>
          </a:xfrm>
          <a:prstGeom prst="rect">
            <a:avLst/>
          </a:prstGeom>
        </p:spPr>
      </p:pic>
      <p:sp>
        <p:nvSpPr>
          <p:cNvPr id="54" name="Text 4">
            <a:extLst>
              <a:ext uri="{FF2B5EF4-FFF2-40B4-BE49-F238E27FC236}">
                <a16:creationId xmlns:a16="http://schemas.microsoft.com/office/drawing/2014/main" id="{F603201D-47EB-D82D-B681-96A4A1EA550E}"/>
              </a:ext>
            </a:extLst>
          </p:cNvPr>
          <p:cNvSpPr/>
          <p:nvPr/>
        </p:nvSpPr>
        <p:spPr>
          <a:xfrm>
            <a:off x="1143000" y="3772138"/>
            <a:ext cx="265747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E0E4E6"/>
                </a:solidFill>
                <a:latin typeface="Montserrat" panose="00000500000000000000" pitchFamily="2" charset="0"/>
                <a:ea typeface="Spline Sans Bold" pitchFamily="34" charset="-122"/>
                <a:cs typeface="Spline Sans Bold" pitchFamily="34" charset="-120"/>
              </a:rPr>
              <a:t>Frontend</a:t>
            </a:r>
            <a:endParaRPr lang="en-US" sz="2050" dirty="0">
              <a:latin typeface="Montserrat" panose="00000500000000000000" pitchFamily="2" charset="0"/>
            </a:endParaRPr>
          </a:p>
        </p:txBody>
      </p:sp>
      <p:sp>
        <p:nvSpPr>
          <p:cNvPr id="55" name="Text 5">
            <a:extLst>
              <a:ext uri="{FF2B5EF4-FFF2-40B4-BE49-F238E27FC236}">
                <a16:creationId xmlns:a16="http://schemas.microsoft.com/office/drawing/2014/main" id="{4AAB18EF-026A-AB09-3F92-0A5D6C270687}"/>
              </a:ext>
            </a:extLst>
          </p:cNvPr>
          <p:cNvSpPr/>
          <p:nvPr/>
        </p:nvSpPr>
        <p:spPr>
          <a:xfrm>
            <a:off x="1143000" y="4247793"/>
            <a:ext cx="3606165" cy="382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E0E4E6"/>
                </a:solidFill>
                <a:latin typeface="Montserrat" panose="00000500000000000000" pitchFamily="2" charset="0"/>
                <a:ea typeface="Barlow" pitchFamily="34" charset="-122"/>
                <a:cs typeface="Barlow" pitchFamily="34" charset="-120"/>
              </a:rPr>
              <a:t>React, Tailwind CSS</a:t>
            </a:r>
            <a:endParaRPr lang="en-US" sz="1850" dirty="0">
              <a:latin typeface="Montserrat" panose="00000500000000000000" pitchFamily="2" charset="0"/>
            </a:endParaRPr>
          </a:p>
        </p:txBody>
      </p:sp>
      <p:sp>
        <p:nvSpPr>
          <p:cNvPr id="56" name="Shape 6">
            <a:extLst>
              <a:ext uri="{FF2B5EF4-FFF2-40B4-BE49-F238E27FC236}">
                <a16:creationId xmlns:a16="http://schemas.microsoft.com/office/drawing/2014/main" id="{8A0D1187-801D-C705-8DF2-C31A8213E006}"/>
              </a:ext>
            </a:extLst>
          </p:cNvPr>
          <p:cNvSpPr/>
          <p:nvPr/>
        </p:nvSpPr>
        <p:spPr>
          <a:xfrm>
            <a:off x="5250180" y="2553652"/>
            <a:ext cx="4130040" cy="2338745"/>
          </a:xfrm>
          <a:prstGeom prst="roundRect">
            <a:avLst>
              <a:gd name="adj" fmla="val 15340"/>
            </a:avLst>
          </a:prstGeom>
          <a:solidFill>
            <a:srgbClr val="0A081B"/>
          </a:solidFill>
          <a:ln w="22860">
            <a:solidFill>
              <a:srgbClr val="29DDDA"/>
            </a:solidFill>
            <a:prstDash val="solid"/>
          </a:ln>
        </p:spPr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57" name="Shape 7">
            <a:extLst>
              <a:ext uri="{FF2B5EF4-FFF2-40B4-BE49-F238E27FC236}">
                <a16:creationId xmlns:a16="http://schemas.microsoft.com/office/drawing/2014/main" id="{00C5B909-1291-C116-7F07-3F63F36A5681}"/>
              </a:ext>
            </a:extLst>
          </p:cNvPr>
          <p:cNvSpPr/>
          <p:nvPr/>
        </p:nvSpPr>
        <p:spPr>
          <a:xfrm>
            <a:off x="5512118" y="2815590"/>
            <a:ext cx="717471" cy="717471"/>
          </a:xfrm>
          <a:prstGeom prst="roundRect">
            <a:avLst>
              <a:gd name="adj" fmla="val 12743492"/>
            </a:avLst>
          </a:prstGeom>
          <a:solidFill>
            <a:srgbClr val="29DDDA"/>
          </a:solidFill>
          <a:ln/>
        </p:spPr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pic>
        <p:nvPicPr>
          <p:cNvPr id="58" name="Image 1" descr="preencoded.png">
            <a:extLst>
              <a:ext uri="{FF2B5EF4-FFF2-40B4-BE49-F238E27FC236}">
                <a16:creationId xmlns:a16="http://schemas.microsoft.com/office/drawing/2014/main" id="{ADDA577C-0D5A-3494-3594-D470409375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09404" y="3012877"/>
            <a:ext cx="322778" cy="322778"/>
          </a:xfrm>
          <a:prstGeom prst="rect">
            <a:avLst/>
          </a:prstGeom>
        </p:spPr>
      </p:pic>
      <p:sp>
        <p:nvSpPr>
          <p:cNvPr id="59" name="Text 8">
            <a:extLst>
              <a:ext uri="{FF2B5EF4-FFF2-40B4-BE49-F238E27FC236}">
                <a16:creationId xmlns:a16="http://schemas.microsoft.com/office/drawing/2014/main" id="{1B426C52-AAD6-A062-C06D-CD8BC0097870}"/>
              </a:ext>
            </a:extLst>
          </p:cNvPr>
          <p:cNvSpPr/>
          <p:nvPr/>
        </p:nvSpPr>
        <p:spPr>
          <a:xfrm>
            <a:off x="5512118" y="3772138"/>
            <a:ext cx="265747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E0E4E6"/>
                </a:solidFill>
                <a:latin typeface="Montserrat" panose="00000500000000000000" pitchFamily="2" charset="0"/>
                <a:ea typeface="Spline Sans Bold" pitchFamily="34" charset="-122"/>
                <a:cs typeface="Spline Sans Bold" pitchFamily="34" charset="-120"/>
              </a:rPr>
              <a:t>Backend</a:t>
            </a:r>
            <a:endParaRPr lang="en-US" sz="2050" dirty="0">
              <a:latin typeface="Montserrat" panose="00000500000000000000" pitchFamily="2" charset="0"/>
            </a:endParaRPr>
          </a:p>
        </p:txBody>
      </p:sp>
      <p:sp>
        <p:nvSpPr>
          <p:cNvPr id="60" name="Text 9">
            <a:extLst>
              <a:ext uri="{FF2B5EF4-FFF2-40B4-BE49-F238E27FC236}">
                <a16:creationId xmlns:a16="http://schemas.microsoft.com/office/drawing/2014/main" id="{C95916D6-05A9-8B62-0ED0-888C63F8AB65}"/>
              </a:ext>
            </a:extLst>
          </p:cNvPr>
          <p:cNvSpPr/>
          <p:nvPr/>
        </p:nvSpPr>
        <p:spPr>
          <a:xfrm>
            <a:off x="5512118" y="4247793"/>
            <a:ext cx="3606165" cy="382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E0E4E6"/>
                </a:solidFill>
                <a:latin typeface="Montserrat" panose="00000500000000000000" pitchFamily="2" charset="0"/>
                <a:ea typeface="Barlow" pitchFamily="34" charset="-122"/>
                <a:cs typeface="Barlow" pitchFamily="34" charset="-120"/>
              </a:rPr>
              <a:t>Flask, FastAPI, Docker</a:t>
            </a:r>
            <a:endParaRPr lang="en-US" sz="1850" dirty="0">
              <a:latin typeface="Montserrat" panose="00000500000000000000" pitchFamily="2" charset="0"/>
            </a:endParaRPr>
          </a:p>
        </p:txBody>
      </p:sp>
      <p:sp>
        <p:nvSpPr>
          <p:cNvPr id="61" name="Shape 10">
            <a:extLst>
              <a:ext uri="{FF2B5EF4-FFF2-40B4-BE49-F238E27FC236}">
                <a16:creationId xmlns:a16="http://schemas.microsoft.com/office/drawing/2014/main" id="{82B08128-E798-593D-146F-3A4120A8FED1}"/>
              </a:ext>
            </a:extLst>
          </p:cNvPr>
          <p:cNvSpPr/>
          <p:nvPr/>
        </p:nvSpPr>
        <p:spPr>
          <a:xfrm>
            <a:off x="9619298" y="2553652"/>
            <a:ext cx="4130040" cy="2338745"/>
          </a:xfrm>
          <a:prstGeom prst="roundRect">
            <a:avLst>
              <a:gd name="adj" fmla="val 15340"/>
            </a:avLst>
          </a:prstGeom>
          <a:solidFill>
            <a:srgbClr val="0A081B"/>
          </a:solidFill>
          <a:ln w="22860">
            <a:solidFill>
              <a:srgbClr val="37A7E7"/>
            </a:solidFill>
            <a:prstDash val="solid"/>
          </a:ln>
        </p:spPr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62" name="Shape 11">
            <a:extLst>
              <a:ext uri="{FF2B5EF4-FFF2-40B4-BE49-F238E27FC236}">
                <a16:creationId xmlns:a16="http://schemas.microsoft.com/office/drawing/2014/main" id="{B4B7CBE6-B6F1-41B5-3AFD-8059BFC0B85F}"/>
              </a:ext>
            </a:extLst>
          </p:cNvPr>
          <p:cNvSpPr/>
          <p:nvPr/>
        </p:nvSpPr>
        <p:spPr>
          <a:xfrm>
            <a:off x="9881235" y="2815590"/>
            <a:ext cx="717471" cy="717471"/>
          </a:xfrm>
          <a:prstGeom prst="roundRect">
            <a:avLst>
              <a:gd name="adj" fmla="val 12743492"/>
            </a:avLst>
          </a:prstGeom>
          <a:solidFill>
            <a:srgbClr val="37A7E7"/>
          </a:solidFill>
          <a:ln/>
        </p:spPr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pic>
        <p:nvPicPr>
          <p:cNvPr id="63" name="Image 2" descr="preencoded.png">
            <a:extLst>
              <a:ext uri="{FF2B5EF4-FFF2-40B4-BE49-F238E27FC236}">
                <a16:creationId xmlns:a16="http://schemas.microsoft.com/office/drawing/2014/main" id="{C525DFB7-8E3B-1724-6BCE-FF51FDCDDFB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78522" y="3012877"/>
            <a:ext cx="322778" cy="322778"/>
          </a:xfrm>
          <a:prstGeom prst="rect">
            <a:avLst/>
          </a:prstGeom>
        </p:spPr>
      </p:pic>
      <p:sp>
        <p:nvSpPr>
          <p:cNvPr id="64" name="Text 12">
            <a:extLst>
              <a:ext uri="{FF2B5EF4-FFF2-40B4-BE49-F238E27FC236}">
                <a16:creationId xmlns:a16="http://schemas.microsoft.com/office/drawing/2014/main" id="{E1EBAC0C-F083-64DD-DF07-A7E654F685AC}"/>
              </a:ext>
            </a:extLst>
          </p:cNvPr>
          <p:cNvSpPr/>
          <p:nvPr/>
        </p:nvSpPr>
        <p:spPr>
          <a:xfrm>
            <a:off x="9881235" y="3772138"/>
            <a:ext cx="265747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E0E4E6"/>
                </a:solidFill>
                <a:latin typeface="Montserrat" panose="00000500000000000000" pitchFamily="2" charset="0"/>
                <a:ea typeface="Spline Sans Bold" pitchFamily="34" charset="-122"/>
                <a:cs typeface="Spline Sans Bold" pitchFamily="34" charset="-120"/>
              </a:rPr>
              <a:t>Database</a:t>
            </a:r>
            <a:endParaRPr lang="en-US" sz="2050" dirty="0">
              <a:latin typeface="Montserrat" panose="00000500000000000000" pitchFamily="2" charset="0"/>
            </a:endParaRPr>
          </a:p>
        </p:txBody>
      </p:sp>
      <p:sp>
        <p:nvSpPr>
          <p:cNvPr id="65" name="Text 13">
            <a:extLst>
              <a:ext uri="{FF2B5EF4-FFF2-40B4-BE49-F238E27FC236}">
                <a16:creationId xmlns:a16="http://schemas.microsoft.com/office/drawing/2014/main" id="{306FFAD7-A932-C3DD-9CFF-79A2FA6DACF2}"/>
              </a:ext>
            </a:extLst>
          </p:cNvPr>
          <p:cNvSpPr/>
          <p:nvPr/>
        </p:nvSpPr>
        <p:spPr>
          <a:xfrm>
            <a:off x="9881235" y="4247793"/>
            <a:ext cx="3606165" cy="382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E0E4E6"/>
                </a:solidFill>
                <a:latin typeface="Montserrat" panose="00000500000000000000" pitchFamily="2" charset="0"/>
                <a:ea typeface="Barlow" pitchFamily="34" charset="-122"/>
                <a:cs typeface="Barlow" pitchFamily="34" charset="-120"/>
              </a:rPr>
              <a:t>AzureSQL, Azure Data Lake</a:t>
            </a:r>
            <a:endParaRPr lang="en-US" sz="1850" dirty="0">
              <a:latin typeface="Montserrat" panose="00000500000000000000" pitchFamily="2" charset="0"/>
            </a:endParaRPr>
          </a:p>
        </p:txBody>
      </p:sp>
      <p:sp>
        <p:nvSpPr>
          <p:cNvPr id="66" name="Shape 14">
            <a:extLst>
              <a:ext uri="{FF2B5EF4-FFF2-40B4-BE49-F238E27FC236}">
                <a16:creationId xmlns:a16="http://schemas.microsoft.com/office/drawing/2014/main" id="{5CDD60C7-3CFF-F21C-47B5-CDB962957F79}"/>
              </a:ext>
            </a:extLst>
          </p:cNvPr>
          <p:cNvSpPr/>
          <p:nvPr/>
        </p:nvSpPr>
        <p:spPr>
          <a:xfrm>
            <a:off x="881063" y="5131475"/>
            <a:ext cx="6314599" cy="2338745"/>
          </a:xfrm>
          <a:prstGeom prst="roundRect">
            <a:avLst>
              <a:gd name="adj" fmla="val 15340"/>
            </a:avLst>
          </a:prstGeom>
          <a:solidFill>
            <a:srgbClr val="0A081B"/>
          </a:solidFill>
          <a:ln w="22860">
            <a:solidFill>
              <a:srgbClr val="091231"/>
            </a:solidFill>
            <a:prstDash val="solid"/>
          </a:ln>
        </p:spPr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67" name="Shape 15">
            <a:extLst>
              <a:ext uri="{FF2B5EF4-FFF2-40B4-BE49-F238E27FC236}">
                <a16:creationId xmlns:a16="http://schemas.microsoft.com/office/drawing/2014/main" id="{151B6B38-4B9B-EB75-C6D2-D931EA157C75}"/>
              </a:ext>
            </a:extLst>
          </p:cNvPr>
          <p:cNvSpPr/>
          <p:nvPr/>
        </p:nvSpPr>
        <p:spPr>
          <a:xfrm>
            <a:off x="1143000" y="5393412"/>
            <a:ext cx="717471" cy="717471"/>
          </a:xfrm>
          <a:prstGeom prst="roundRect">
            <a:avLst>
              <a:gd name="adj" fmla="val 12743492"/>
            </a:avLst>
          </a:prstGeom>
          <a:solidFill>
            <a:srgbClr val="091231"/>
          </a:solidFill>
          <a:ln/>
        </p:spPr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pic>
        <p:nvPicPr>
          <p:cNvPr id="68" name="Image 3" descr="preencoded.png">
            <a:extLst>
              <a:ext uri="{FF2B5EF4-FFF2-40B4-BE49-F238E27FC236}">
                <a16:creationId xmlns:a16="http://schemas.microsoft.com/office/drawing/2014/main" id="{86E6A52C-E5F9-BE6A-821B-B76DEA08B8D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40287" y="5590699"/>
            <a:ext cx="322778" cy="322778"/>
          </a:xfrm>
          <a:prstGeom prst="rect">
            <a:avLst/>
          </a:prstGeom>
        </p:spPr>
      </p:pic>
      <p:sp>
        <p:nvSpPr>
          <p:cNvPr id="69" name="Text 16">
            <a:extLst>
              <a:ext uri="{FF2B5EF4-FFF2-40B4-BE49-F238E27FC236}">
                <a16:creationId xmlns:a16="http://schemas.microsoft.com/office/drawing/2014/main" id="{06D1748D-D778-6546-C02C-E8F60534BD6C}"/>
              </a:ext>
            </a:extLst>
          </p:cNvPr>
          <p:cNvSpPr/>
          <p:nvPr/>
        </p:nvSpPr>
        <p:spPr>
          <a:xfrm>
            <a:off x="1143000" y="6349960"/>
            <a:ext cx="265747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E0E4E6"/>
                </a:solidFill>
                <a:latin typeface="Montserrat" panose="00000500000000000000" pitchFamily="2" charset="0"/>
                <a:ea typeface="Spline Sans Bold" pitchFamily="34" charset="-122"/>
                <a:cs typeface="Spline Sans Bold" pitchFamily="34" charset="-120"/>
              </a:rPr>
              <a:t>ML Stack</a:t>
            </a:r>
            <a:endParaRPr lang="en-US" sz="2050" dirty="0">
              <a:latin typeface="Montserrat" panose="00000500000000000000" pitchFamily="2" charset="0"/>
            </a:endParaRPr>
          </a:p>
        </p:txBody>
      </p:sp>
      <p:sp>
        <p:nvSpPr>
          <p:cNvPr id="70" name="Text 17">
            <a:extLst>
              <a:ext uri="{FF2B5EF4-FFF2-40B4-BE49-F238E27FC236}">
                <a16:creationId xmlns:a16="http://schemas.microsoft.com/office/drawing/2014/main" id="{DC505855-44E8-1C06-1573-596735F50775}"/>
              </a:ext>
            </a:extLst>
          </p:cNvPr>
          <p:cNvSpPr/>
          <p:nvPr/>
        </p:nvSpPr>
        <p:spPr>
          <a:xfrm>
            <a:off x="1143000" y="6825615"/>
            <a:ext cx="5790724" cy="382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E0E4E6"/>
                </a:solidFill>
                <a:latin typeface="Montserrat" panose="00000500000000000000" pitchFamily="2" charset="0"/>
                <a:ea typeface="Barlow" pitchFamily="34" charset="-122"/>
                <a:cs typeface="Barlow" pitchFamily="34" charset="-120"/>
              </a:rPr>
              <a:t>TensorFlow, PyTorch, HuggingFace, scikit-learn</a:t>
            </a:r>
            <a:endParaRPr lang="en-US" sz="1850" dirty="0">
              <a:latin typeface="Montserrat" panose="00000500000000000000" pitchFamily="2" charset="0"/>
            </a:endParaRPr>
          </a:p>
        </p:txBody>
      </p:sp>
      <p:sp>
        <p:nvSpPr>
          <p:cNvPr id="71" name="Shape 18">
            <a:extLst>
              <a:ext uri="{FF2B5EF4-FFF2-40B4-BE49-F238E27FC236}">
                <a16:creationId xmlns:a16="http://schemas.microsoft.com/office/drawing/2014/main" id="{42C99C10-3F77-5317-C732-AF1D46DFC66A}"/>
              </a:ext>
            </a:extLst>
          </p:cNvPr>
          <p:cNvSpPr/>
          <p:nvPr/>
        </p:nvSpPr>
        <p:spPr>
          <a:xfrm>
            <a:off x="7434739" y="5131475"/>
            <a:ext cx="6314599" cy="2338745"/>
          </a:xfrm>
          <a:prstGeom prst="roundRect">
            <a:avLst>
              <a:gd name="adj" fmla="val 15340"/>
            </a:avLst>
          </a:prstGeom>
          <a:solidFill>
            <a:srgbClr val="0A081B"/>
          </a:solidFill>
          <a:ln w="22860">
            <a:solidFill>
              <a:srgbClr val="16FFBB"/>
            </a:solidFill>
            <a:prstDash val="solid"/>
          </a:ln>
        </p:spPr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72" name="Shape 19">
            <a:extLst>
              <a:ext uri="{FF2B5EF4-FFF2-40B4-BE49-F238E27FC236}">
                <a16:creationId xmlns:a16="http://schemas.microsoft.com/office/drawing/2014/main" id="{5CE2324A-4ED4-12ED-26D8-3C7B2282C8AC}"/>
              </a:ext>
            </a:extLst>
          </p:cNvPr>
          <p:cNvSpPr/>
          <p:nvPr/>
        </p:nvSpPr>
        <p:spPr>
          <a:xfrm>
            <a:off x="7696676" y="5393412"/>
            <a:ext cx="717471" cy="717471"/>
          </a:xfrm>
          <a:prstGeom prst="roundRect">
            <a:avLst>
              <a:gd name="adj" fmla="val 12743492"/>
            </a:avLst>
          </a:prstGeom>
          <a:solidFill>
            <a:srgbClr val="16FFBB"/>
          </a:solidFill>
          <a:ln/>
        </p:spPr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pic>
        <p:nvPicPr>
          <p:cNvPr id="73" name="Image 4" descr="preencoded.png">
            <a:extLst>
              <a:ext uri="{FF2B5EF4-FFF2-40B4-BE49-F238E27FC236}">
                <a16:creationId xmlns:a16="http://schemas.microsoft.com/office/drawing/2014/main" id="{8977DD60-F51A-9D2D-A9B6-DE6AB064A20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893963" y="5590699"/>
            <a:ext cx="322778" cy="322778"/>
          </a:xfrm>
          <a:prstGeom prst="rect">
            <a:avLst/>
          </a:prstGeom>
        </p:spPr>
      </p:pic>
      <p:sp>
        <p:nvSpPr>
          <p:cNvPr id="74" name="Text 20">
            <a:extLst>
              <a:ext uri="{FF2B5EF4-FFF2-40B4-BE49-F238E27FC236}">
                <a16:creationId xmlns:a16="http://schemas.microsoft.com/office/drawing/2014/main" id="{5F03EBC4-A4DF-323A-23A8-B32799D0620A}"/>
              </a:ext>
            </a:extLst>
          </p:cNvPr>
          <p:cNvSpPr/>
          <p:nvPr/>
        </p:nvSpPr>
        <p:spPr>
          <a:xfrm>
            <a:off x="7696676" y="6349960"/>
            <a:ext cx="265747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E0E4E6"/>
                </a:solidFill>
                <a:latin typeface="Montserrat" panose="00000500000000000000" pitchFamily="2" charset="0"/>
                <a:ea typeface="Spline Sans Bold" pitchFamily="34" charset="-122"/>
                <a:cs typeface="Spline Sans Bold" pitchFamily="34" charset="-120"/>
              </a:rPr>
              <a:t>Deployment</a:t>
            </a:r>
            <a:endParaRPr lang="en-US" sz="2050" dirty="0">
              <a:latin typeface="Montserrat" panose="00000500000000000000" pitchFamily="2" charset="0"/>
            </a:endParaRPr>
          </a:p>
        </p:txBody>
      </p:sp>
      <p:sp>
        <p:nvSpPr>
          <p:cNvPr id="75" name="Text 21">
            <a:extLst>
              <a:ext uri="{FF2B5EF4-FFF2-40B4-BE49-F238E27FC236}">
                <a16:creationId xmlns:a16="http://schemas.microsoft.com/office/drawing/2014/main" id="{84B2019C-E5E9-9C90-C01A-C205CBD666D9}"/>
              </a:ext>
            </a:extLst>
          </p:cNvPr>
          <p:cNvSpPr/>
          <p:nvPr/>
        </p:nvSpPr>
        <p:spPr>
          <a:xfrm>
            <a:off x="7696676" y="6825615"/>
            <a:ext cx="5790724" cy="382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E0E4E6"/>
                </a:solidFill>
                <a:latin typeface="Montserrat" panose="00000500000000000000" pitchFamily="2" charset="0"/>
                <a:ea typeface="Barlow" pitchFamily="34" charset="-122"/>
                <a:cs typeface="Barlow" pitchFamily="34" charset="-120"/>
              </a:rPr>
              <a:t>Azure VM, GitHub Actions, Docker Compose</a:t>
            </a:r>
            <a:endParaRPr lang="en-US" sz="1850" dirty="0">
              <a:latin typeface="Montserrat" panose="00000500000000000000" pitchFamily="2" charset="0"/>
            </a:endParaRPr>
          </a:p>
        </p:txBody>
      </p:sp>
      <p:sp>
        <p:nvSpPr>
          <p:cNvPr id="76" name="Text 0">
            <a:extLst>
              <a:ext uri="{FF2B5EF4-FFF2-40B4-BE49-F238E27FC236}">
                <a16:creationId xmlns:a16="http://schemas.microsoft.com/office/drawing/2014/main" id="{215830CB-CE4D-9D40-2131-6EAAF9006B5C}"/>
              </a:ext>
            </a:extLst>
          </p:cNvPr>
          <p:cNvSpPr/>
          <p:nvPr/>
        </p:nvSpPr>
        <p:spPr>
          <a:xfrm>
            <a:off x="-802703" y="1021318"/>
            <a:ext cx="7998365" cy="954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400" b="1" dirty="0">
                <a:solidFill>
                  <a:srgbClr val="FFFFFF"/>
                </a:solidFill>
                <a:latin typeface="Montserrat" panose="00000500000000000000" pitchFamily="2" charset="0"/>
                <a:ea typeface="Calibri"/>
                <a:cs typeface="Calibri"/>
              </a:rPr>
              <a:t>Technology Stack</a:t>
            </a:r>
            <a:endParaRPr lang="en-US" sz="4400" dirty="0">
              <a:latin typeface="Montserrat" panose="00000500000000000000" pitchFamily="2" charset="0"/>
              <a:ea typeface="Calibri"/>
              <a:cs typeface="Calibri"/>
            </a:endParaRPr>
          </a:p>
          <a:p>
            <a:pPr>
              <a:lnSpc>
                <a:spcPts val="3400"/>
              </a:lnSpc>
            </a:pPr>
            <a:endParaRPr lang="en-US" sz="2700" dirty="0">
              <a:solidFill>
                <a:srgbClr val="F2F0F4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538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A939A2C7-7A6E-AD8E-E86F-133EFBE0B30B}"/>
              </a:ext>
            </a:extLst>
          </p:cNvPr>
          <p:cNvSpPr/>
          <p:nvPr/>
        </p:nvSpPr>
        <p:spPr>
          <a:xfrm>
            <a:off x="793790" y="629960"/>
            <a:ext cx="866453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Project Development Timeline</a:t>
            </a:r>
            <a:endParaRPr lang="en-US" sz="4450" dirty="0">
              <a:latin typeface="Montserrat" panose="00000500000000000000" pitchFamily="2" charset="0"/>
            </a:endParaRPr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9F731218-6713-7332-AD49-A2493230479C}"/>
              </a:ext>
            </a:extLst>
          </p:cNvPr>
          <p:cNvSpPr/>
          <p:nvPr/>
        </p:nvSpPr>
        <p:spPr>
          <a:xfrm>
            <a:off x="793790" y="1792367"/>
            <a:ext cx="13042821" cy="5807154"/>
          </a:xfrm>
          <a:prstGeom prst="roundRect">
            <a:avLst>
              <a:gd name="adj" fmla="val 1641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79C72C10-FB74-A2FD-E300-C9F12B14CF66}"/>
              </a:ext>
            </a:extLst>
          </p:cNvPr>
          <p:cNvSpPr/>
          <p:nvPr/>
        </p:nvSpPr>
        <p:spPr>
          <a:xfrm>
            <a:off x="801410" y="1799987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AE54829F-C9A8-08B5-9275-FA6FB75AA208}"/>
              </a:ext>
            </a:extLst>
          </p:cNvPr>
          <p:cNvSpPr/>
          <p:nvPr/>
        </p:nvSpPr>
        <p:spPr>
          <a:xfrm>
            <a:off x="1028462" y="1943695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>
                <a:solidFill>
                  <a:srgbClr val="DCD7E5"/>
                </a:solidFill>
                <a:latin typeface="Montserrat" panose="00000500000000000000" pitchFamily="2" charset="0"/>
                <a:ea typeface="Heebo Light" pitchFamily="34" charset="-122"/>
                <a:cs typeface="Heebo Light" pitchFamily="34" charset="-120"/>
              </a:rPr>
              <a:t>Phase</a:t>
            </a:r>
            <a:endParaRPr lang="en-US" sz="1750">
              <a:latin typeface="Montserrat" panose="00000500000000000000" pitchFamily="2" charset="0"/>
            </a:endParaRPr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986B2744-D1B1-61DF-32C6-98DDDFFDA3E8}"/>
              </a:ext>
            </a:extLst>
          </p:cNvPr>
          <p:cNvSpPr/>
          <p:nvPr/>
        </p:nvSpPr>
        <p:spPr>
          <a:xfrm>
            <a:off x="4289108" y="1943695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>
                <a:solidFill>
                  <a:srgbClr val="DCD7E5"/>
                </a:solidFill>
                <a:latin typeface="Montserrat" panose="00000500000000000000" pitchFamily="2" charset="0"/>
                <a:ea typeface="Heebo Light" pitchFamily="34" charset="-122"/>
                <a:cs typeface="Heebo Light" pitchFamily="34" charset="-120"/>
              </a:rPr>
              <a:t>Timeline</a:t>
            </a:r>
            <a:endParaRPr lang="en-US" sz="1750">
              <a:latin typeface="Montserrat" panose="00000500000000000000" pitchFamily="2" charset="0"/>
            </a:endParaRP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8E4CCC50-3A97-38AA-CD7F-82ED83931DA9}"/>
              </a:ext>
            </a:extLst>
          </p:cNvPr>
          <p:cNvSpPr/>
          <p:nvPr/>
        </p:nvSpPr>
        <p:spPr>
          <a:xfrm>
            <a:off x="7545943" y="1943695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>
                <a:solidFill>
                  <a:srgbClr val="DCD7E5"/>
                </a:solidFill>
                <a:latin typeface="Montserrat" panose="00000500000000000000" pitchFamily="2" charset="0"/>
                <a:ea typeface="Heebo Light" pitchFamily="34" charset="-122"/>
                <a:cs typeface="Heebo Light" pitchFamily="34" charset="-120"/>
              </a:rPr>
              <a:t>Key Deliverables</a:t>
            </a:r>
            <a:endParaRPr lang="en-US" sz="1750">
              <a:latin typeface="Montserrat" panose="00000500000000000000" pitchFamily="2" charset="0"/>
            </a:endParaRP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4CD3CF54-AEE6-0AEC-8D7A-2253B9149ED2}"/>
              </a:ext>
            </a:extLst>
          </p:cNvPr>
          <p:cNvSpPr/>
          <p:nvPr/>
        </p:nvSpPr>
        <p:spPr>
          <a:xfrm>
            <a:off x="10802779" y="1943695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>
                <a:solidFill>
                  <a:srgbClr val="DCD7E5"/>
                </a:solidFill>
                <a:latin typeface="Montserrat" panose="00000500000000000000" pitchFamily="2" charset="0"/>
                <a:ea typeface="Heebo Light" pitchFamily="34" charset="-122"/>
                <a:cs typeface="Heebo Light" pitchFamily="34" charset="-120"/>
              </a:rPr>
              <a:t>Status</a:t>
            </a:r>
            <a:endParaRPr lang="en-US" sz="1750">
              <a:latin typeface="Montserrat" panose="00000500000000000000" pitchFamily="2" charset="0"/>
            </a:endParaRP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32ABEB03-E7ED-007A-B5CA-C6D6B04C487F}"/>
              </a:ext>
            </a:extLst>
          </p:cNvPr>
          <p:cNvSpPr/>
          <p:nvPr/>
        </p:nvSpPr>
        <p:spPr>
          <a:xfrm>
            <a:off x="801410" y="2450306"/>
            <a:ext cx="13027581" cy="137612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902ECA21-A6AC-BF1F-CB16-5614017D98B0}"/>
              </a:ext>
            </a:extLst>
          </p:cNvPr>
          <p:cNvSpPr/>
          <p:nvPr/>
        </p:nvSpPr>
        <p:spPr>
          <a:xfrm>
            <a:off x="1028462" y="2594015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DCD7E5"/>
                </a:solidFill>
                <a:latin typeface="Montserrat" panose="00000500000000000000" pitchFamily="2" charset="0"/>
                <a:ea typeface="Heebo Light" pitchFamily="34" charset="-122"/>
                <a:cs typeface="Heebo Light" pitchFamily="34" charset="-120"/>
              </a:rPr>
              <a:t>Phase 1: Foundation</a:t>
            </a:r>
            <a:endParaRPr lang="en-US" sz="1750">
              <a:latin typeface="Montserrat" panose="00000500000000000000" pitchFamily="2" charset="0"/>
            </a:endParaRPr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6F9C0C83-455D-CAB0-D7E0-FA25338837FA}"/>
              </a:ext>
            </a:extLst>
          </p:cNvPr>
          <p:cNvSpPr/>
          <p:nvPr/>
        </p:nvSpPr>
        <p:spPr>
          <a:xfrm>
            <a:off x="4289108" y="2594015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DCD7E5"/>
                </a:solidFill>
                <a:latin typeface="Montserrat" panose="00000500000000000000" pitchFamily="2" charset="0"/>
                <a:cs typeface="Heebo Light" pitchFamily="34" charset="-120"/>
              </a:rPr>
              <a:t>Week 3 to Week 5</a:t>
            </a:r>
            <a:endParaRPr lang="en-US" sz="1750">
              <a:latin typeface="Montserrat" panose="00000500000000000000" pitchFamily="2" charset="0"/>
            </a:endParaRPr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D2622DA2-ADB0-1F54-6EB0-8F2940951668}"/>
              </a:ext>
            </a:extLst>
          </p:cNvPr>
          <p:cNvSpPr/>
          <p:nvPr/>
        </p:nvSpPr>
        <p:spPr>
          <a:xfrm>
            <a:off x="7545943" y="2594015"/>
            <a:ext cx="279558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DCD7E5"/>
                </a:solidFill>
                <a:latin typeface="Montserrat" panose="00000500000000000000" pitchFamily="2" charset="0"/>
                <a:ea typeface="Heebo Light" pitchFamily="34" charset="-122"/>
                <a:cs typeface="Heebo Light" pitchFamily="34" charset="-120"/>
              </a:rPr>
              <a:t>MVP platform, basic education modules, beta chatbot</a:t>
            </a:r>
            <a:endParaRPr lang="en-US" sz="1750">
              <a:latin typeface="Montserrat" panose="00000500000000000000" pitchFamily="2" charset="0"/>
            </a:endParaRPr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9F5A4538-8E3E-CBF4-92DD-526A351C9F7C}"/>
              </a:ext>
            </a:extLst>
          </p:cNvPr>
          <p:cNvSpPr/>
          <p:nvPr/>
        </p:nvSpPr>
        <p:spPr>
          <a:xfrm>
            <a:off x="10802779" y="2594015"/>
            <a:ext cx="2799397" cy="378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000000"/>
                </a:solidFill>
                <a:latin typeface="Montserrat" panose="00000500000000000000" pitchFamily="2" charset="0"/>
                <a:ea typeface="Heebo Light" pitchFamily="34" charset="-122"/>
                <a:cs typeface="Heebo Light" pitchFamily="34" charset="-120"/>
              </a:rPr>
              <a:t>✅</a:t>
            </a:r>
            <a:r>
              <a:rPr lang="en-US" sz="1750">
                <a:solidFill>
                  <a:srgbClr val="DCD7E5"/>
                </a:solidFill>
                <a:latin typeface="Montserrat" panose="00000500000000000000" pitchFamily="2" charset="0"/>
                <a:ea typeface="Heebo Light" pitchFamily="34" charset="-122"/>
                <a:cs typeface="Heebo Light" pitchFamily="34" charset="-120"/>
              </a:rPr>
              <a:t> Complete</a:t>
            </a:r>
            <a:endParaRPr lang="en-US" sz="1750">
              <a:latin typeface="Montserrat" panose="00000500000000000000" pitchFamily="2" charset="0"/>
            </a:endParaRPr>
          </a:p>
        </p:txBody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F4E575E6-8E89-6CF3-4791-95D7CC79E270}"/>
              </a:ext>
            </a:extLst>
          </p:cNvPr>
          <p:cNvSpPr/>
          <p:nvPr/>
        </p:nvSpPr>
        <p:spPr>
          <a:xfrm>
            <a:off x="801410" y="3826431"/>
            <a:ext cx="13027581" cy="137612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8C23F291-A8F3-14E5-FED5-02188E357A13}"/>
              </a:ext>
            </a:extLst>
          </p:cNvPr>
          <p:cNvSpPr/>
          <p:nvPr/>
        </p:nvSpPr>
        <p:spPr>
          <a:xfrm>
            <a:off x="1028462" y="3970139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DCD7E5"/>
                </a:solidFill>
                <a:latin typeface="Montserrat" panose="00000500000000000000" pitchFamily="2" charset="0"/>
                <a:ea typeface="Heebo Light" pitchFamily="34" charset="-122"/>
                <a:cs typeface="Heebo Light" pitchFamily="34" charset="-120"/>
              </a:rPr>
              <a:t>Phase 2: Intelligence</a:t>
            </a:r>
            <a:endParaRPr lang="en-US" sz="1750">
              <a:latin typeface="Montserrat" panose="00000500000000000000" pitchFamily="2" charset="0"/>
            </a:endParaRPr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87E0EEF2-D6E7-E097-6E9E-06F61E8CFB22}"/>
              </a:ext>
            </a:extLst>
          </p:cNvPr>
          <p:cNvSpPr/>
          <p:nvPr/>
        </p:nvSpPr>
        <p:spPr>
          <a:xfrm>
            <a:off x="4289108" y="3970139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DCD7E5"/>
                </a:solidFill>
                <a:latin typeface="Montserrat" panose="00000500000000000000" pitchFamily="2" charset="0"/>
                <a:cs typeface="Heebo Light" pitchFamily="34" charset="-120"/>
              </a:rPr>
              <a:t>Week 6 to Week 8</a:t>
            </a:r>
            <a:endParaRPr lang="en-US" sz="1750">
              <a:latin typeface="Montserrat" panose="00000500000000000000" pitchFamily="2" charset="0"/>
            </a:endParaRPr>
          </a:p>
        </p:txBody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EFAC6E01-5A3B-5F45-6260-D6A0948AAF04}"/>
              </a:ext>
            </a:extLst>
          </p:cNvPr>
          <p:cNvSpPr/>
          <p:nvPr/>
        </p:nvSpPr>
        <p:spPr>
          <a:xfrm>
            <a:off x="7545943" y="3970139"/>
            <a:ext cx="279558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DCD7E5"/>
                </a:solidFill>
                <a:latin typeface="Montserrat" panose="00000500000000000000" pitchFamily="2" charset="0"/>
                <a:ea typeface="Heebo Light" pitchFamily="34" charset="-122"/>
                <a:cs typeface="Heebo Light" pitchFamily="34" charset="-120"/>
              </a:rPr>
              <a:t>RL model test and portfolio analyzer</a:t>
            </a:r>
            <a:endParaRPr lang="en-US" sz="1750">
              <a:latin typeface="Montserrat" panose="00000500000000000000" pitchFamily="2" charset="0"/>
            </a:endParaRPr>
          </a:p>
        </p:txBody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8BB00D1C-9806-E423-97A2-9B09F124D606}"/>
              </a:ext>
            </a:extLst>
          </p:cNvPr>
          <p:cNvSpPr/>
          <p:nvPr/>
        </p:nvSpPr>
        <p:spPr>
          <a:xfrm>
            <a:off x="10802779" y="3970139"/>
            <a:ext cx="2799397" cy="378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000000"/>
                </a:solidFill>
                <a:latin typeface="Montserrat" panose="00000500000000000000" pitchFamily="2" charset="0"/>
                <a:ea typeface="Heebo Light" pitchFamily="34" charset="-122"/>
                <a:cs typeface="Heebo Light" pitchFamily="34" charset="-120"/>
              </a:rPr>
              <a:t>✅</a:t>
            </a:r>
            <a:r>
              <a:rPr lang="en-US" sz="1750">
                <a:solidFill>
                  <a:srgbClr val="DCD7E5"/>
                </a:solidFill>
                <a:latin typeface="Montserrat" panose="00000500000000000000" pitchFamily="2" charset="0"/>
                <a:ea typeface="Heebo Light" pitchFamily="34" charset="-122"/>
                <a:cs typeface="Heebo Light" pitchFamily="34" charset="-120"/>
              </a:rPr>
              <a:t> Complete</a:t>
            </a:r>
            <a:endParaRPr lang="en-US" sz="1750">
              <a:latin typeface="Montserrat" panose="00000500000000000000" pitchFamily="2" charset="0"/>
            </a:endParaRPr>
          </a:p>
        </p:txBody>
      </p:sp>
      <p:sp>
        <p:nvSpPr>
          <p:cNvPr id="37" name="Shape 17">
            <a:extLst>
              <a:ext uri="{FF2B5EF4-FFF2-40B4-BE49-F238E27FC236}">
                <a16:creationId xmlns:a16="http://schemas.microsoft.com/office/drawing/2014/main" id="{B59A0C99-AD49-DC81-ED7F-624C8991D202}"/>
              </a:ext>
            </a:extLst>
          </p:cNvPr>
          <p:cNvSpPr/>
          <p:nvPr/>
        </p:nvSpPr>
        <p:spPr>
          <a:xfrm>
            <a:off x="801410" y="5202555"/>
            <a:ext cx="13027581" cy="137612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1BF99145-985F-CCC0-AE76-8437AD7E481C}"/>
              </a:ext>
            </a:extLst>
          </p:cNvPr>
          <p:cNvSpPr/>
          <p:nvPr/>
        </p:nvSpPr>
        <p:spPr>
          <a:xfrm>
            <a:off x="1028462" y="5346263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DCD7E5"/>
                </a:solidFill>
                <a:latin typeface="Montserrat" panose="00000500000000000000" pitchFamily="2" charset="0"/>
                <a:ea typeface="Heebo Light" pitchFamily="34" charset="-122"/>
                <a:cs typeface="Heebo Light" pitchFamily="34" charset="-120"/>
              </a:rPr>
              <a:t>Phase 3: Scale</a:t>
            </a:r>
            <a:endParaRPr lang="en-US" sz="1750">
              <a:latin typeface="Montserrat" panose="00000500000000000000" pitchFamily="2" charset="0"/>
            </a:endParaRPr>
          </a:p>
        </p:txBody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7835E5E5-5014-B30B-47B2-96484C486C2B}"/>
              </a:ext>
            </a:extLst>
          </p:cNvPr>
          <p:cNvSpPr/>
          <p:nvPr/>
        </p:nvSpPr>
        <p:spPr>
          <a:xfrm>
            <a:off x="4289108" y="5346263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DCD7E5"/>
                </a:solidFill>
                <a:latin typeface="Montserrat" panose="00000500000000000000" pitchFamily="2" charset="0"/>
                <a:cs typeface="Heebo Light"/>
              </a:rPr>
              <a:t>Week 9 to Week 13</a:t>
            </a:r>
            <a:endParaRPr lang="en-US" sz="1750">
              <a:latin typeface="Montserrat" panose="00000500000000000000" pitchFamily="2" charset="0"/>
            </a:endParaRPr>
          </a:p>
        </p:txBody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AD97719A-6E29-4D49-ECF8-79F81B23215C}"/>
              </a:ext>
            </a:extLst>
          </p:cNvPr>
          <p:cNvSpPr/>
          <p:nvPr/>
        </p:nvSpPr>
        <p:spPr>
          <a:xfrm>
            <a:off x="7545943" y="5346263"/>
            <a:ext cx="279558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>
                <a:solidFill>
                  <a:srgbClr val="DCD7E5"/>
                </a:solidFill>
                <a:latin typeface="Montserrat" panose="00000500000000000000" pitchFamily="2" charset="0"/>
                <a:ea typeface="Heebo Light" pitchFamily="34" charset="-122"/>
                <a:cs typeface="Heebo Light"/>
              </a:rPr>
              <a:t>Integrating all data with </a:t>
            </a:r>
            <a:r>
              <a:rPr lang="en-US" sz="1750" err="1">
                <a:solidFill>
                  <a:srgbClr val="DCD7E5"/>
                </a:solidFill>
                <a:latin typeface="Montserrat" panose="00000500000000000000" pitchFamily="2" charset="0"/>
                <a:ea typeface="Heebo Light" pitchFamily="34" charset="-122"/>
                <a:cs typeface="Heebo Light"/>
              </a:rPr>
              <a:t>rl</a:t>
            </a:r>
            <a:r>
              <a:rPr lang="en-US" sz="1750">
                <a:solidFill>
                  <a:srgbClr val="DCD7E5"/>
                </a:solidFill>
                <a:latin typeface="Montserrat" panose="00000500000000000000" pitchFamily="2" charset="0"/>
                <a:ea typeface="Heebo Light" pitchFamily="34" charset="-122"/>
                <a:cs typeface="Heebo Light"/>
              </a:rPr>
              <a:t> model and integrate with the front end</a:t>
            </a:r>
            <a:endParaRPr lang="en-US" sz="1750">
              <a:latin typeface="Montserrat" panose="00000500000000000000" pitchFamily="2" charset="0"/>
              <a:cs typeface="Heebo Light"/>
            </a:endParaRPr>
          </a:p>
        </p:txBody>
      </p:sp>
      <p:sp>
        <p:nvSpPr>
          <p:cNvPr id="45" name="Text 21">
            <a:extLst>
              <a:ext uri="{FF2B5EF4-FFF2-40B4-BE49-F238E27FC236}">
                <a16:creationId xmlns:a16="http://schemas.microsoft.com/office/drawing/2014/main" id="{CE0C8B4A-D211-6668-4EDB-96C007FC222A}"/>
              </a:ext>
            </a:extLst>
          </p:cNvPr>
          <p:cNvSpPr/>
          <p:nvPr/>
        </p:nvSpPr>
        <p:spPr>
          <a:xfrm>
            <a:off x="10802779" y="5346263"/>
            <a:ext cx="2799397" cy="378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000000"/>
                </a:solidFill>
                <a:latin typeface="Montserrat" panose="00000500000000000000" pitchFamily="2" charset="0"/>
                <a:ea typeface="Heebo Light" pitchFamily="34" charset="-122"/>
                <a:cs typeface="Heebo Light" pitchFamily="34" charset="-120"/>
              </a:rPr>
              <a:t>🔄</a:t>
            </a:r>
            <a:r>
              <a:rPr lang="en-US" sz="1750">
                <a:solidFill>
                  <a:srgbClr val="DCD7E5"/>
                </a:solidFill>
                <a:latin typeface="Montserrat" panose="00000500000000000000" pitchFamily="2" charset="0"/>
                <a:ea typeface="Heebo Light" pitchFamily="34" charset="-122"/>
                <a:cs typeface="Heebo Light" pitchFamily="34" charset="-120"/>
              </a:rPr>
              <a:t> In Progress</a:t>
            </a:r>
            <a:endParaRPr lang="en-US" sz="1750">
              <a:latin typeface="Montserrat" panose="00000500000000000000" pitchFamily="2" charset="0"/>
            </a:endParaRPr>
          </a:p>
        </p:txBody>
      </p:sp>
      <p:sp>
        <p:nvSpPr>
          <p:cNvPr id="47" name="Shape 22">
            <a:extLst>
              <a:ext uri="{FF2B5EF4-FFF2-40B4-BE49-F238E27FC236}">
                <a16:creationId xmlns:a16="http://schemas.microsoft.com/office/drawing/2014/main" id="{FD9BDA3D-E17F-2FAD-4A43-99F39A29C155}"/>
              </a:ext>
            </a:extLst>
          </p:cNvPr>
          <p:cNvSpPr/>
          <p:nvPr/>
        </p:nvSpPr>
        <p:spPr>
          <a:xfrm>
            <a:off x="801410" y="6578679"/>
            <a:ext cx="13027581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49" name="Text 23">
            <a:extLst>
              <a:ext uri="{FF2B5EF4-FFF2-40B4-BE49-F238E27FC236}">
                <a16:creationId xmlns:a16="http://schemas.microsoft.com/office/drawing/2014/main" id="{39490EDD-41D0-FEBC-176D-B45D3CB46E43}"/>
              </a:ext>
            </a:extLst>
          </p:cNvPr>
          <p:cNvSpPr/>
          <p:nvPr/>
        </p:nvSpPr>
        <p:spPr>
          <a:xfrm>
            <a:off x="1028462" y="6722388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DCD7E5"/>
                </a:solidFill>
                <a:latin typeface="Montserrat" panose="00000500000000000000" pitchFamily="2" charset="0"/>
                <a:ea typeface="Heebo Light" pitchFamily="34" charset="-122"/>
                <a:cs typeface="Heebo Light" pitchFamily="34" charset="-120"/>
              </a:rPr>
              <a:t>Phase 4: Growth</a:t>
            </a:r>
            <a:endParaRPr lang="en-US" sz="1750">
              <a:latin typeface="Montserrat" panose="00000500000000000000" pitchFamily="2" charset="0"/>
            </a:endParaRPr>
          </a:p>
        </p:txBody>
      </p:sp>
      <p:sp>
        <p:nvSpPr>
          <p:cNvPr id="51" name="Text 24">
            <a:extLst>
              <a:ext uri="{FF2B5EF4-FFF2-40B4-BE49-F238E27FC236}">
                <a16:creationId xmlns:a16="http://schemas.microsoft.com/office/drawing/2014/main" id="{ECDBC7D4-6D99-7620-95F1-4B02AAF52539}"/>
              </a:ext>
            </a:extLst>
          </p:cNvPr>
          <p:cNvSpPr/>
          <p:nvPr/>
        </p:nvSpPr>
        <p:spPr>
          <a:xfrm>
            <a:off x="4289108" y="6722388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>
                <a:solidFill>
                  <a:srgbClr val="DCD7E5"/>
                </a:solidFill>
                <a:latin typeface="Montserrat" panose="00000500000000000000" pitchFamily="2" charset="0"/>
                <a:ea typeface="Heebo Light" pitchFamily="34" charset="-122"/>
                <a:cs typeface="Heebo Light"/>
              </a:rPr>
              <a:t>Week 14 (Final Demo)</a:t>
            </a:r>
            <a:endParaRPr lang="en-US" sz="1750">
              <a:latin typeface="Montserrat" panose="00000500000000000000" pitchFamily="2" charset="0"/>
              <a:cs typeface="Heebo Light"/>
            </a:endParaRPr>
          </a:p>
        </p:txBody>
      </p:sp>
      <p:sp>
        <p:nvSpPr>
          <p:cNvPr id="53" name="Text 25">
            <a:extLst>
              <a:ext uri="{FF2B5EF4-FFF2-40B4-BE49-F238E27FC236}">
                <a16:creationId xmlns:a16="http://schemas.microsoft.com/office/drawing/2014/main" id="{E3ED9C6E-CE3B-CA45-028B-D133CB5AE7AE}"/>
              </a:ext>
            </a:extLst>
          </p:cNvPr>
          <p:cNvSpPr/>
          <p:nvPr/>
        </p:nvSpPr>
        <p:spPr>
          <a:xfrm>
            <a:off x="7545943" y="6722388"/>
            <a:ext cx="27955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DCD7E5"/>
                </a:solidFill>
                <a:latin typeface="Montserrat" panose="00000500000000000000" pitchFamily="2" charset="0"/>
                <a:ea typeface="Heebo Light" pitchFamily="34" charset="-122"/>
                <a:cs typeface="Heebo Light" pitchFamily="34" charset="-120"/>
              </a:rPr>
              <a:t>Final touches and improving the overall application</a:t>
            </a:r>
            <a:endParaRPr lang="en-US" sz="1750">
              <a:latin typeface="Montserrat" panose="00000500000000000000" pitchFamily="2" charset="0"/>
            </a:endParaRPr>
          </a:p>
        </p:txBody>
      </p:sp>
      <p:sp>
        <p:nvSpPr>
          <p:cNvPr id="55" name="Text 26">
            <a:extLst>
              <a:ext uri="{FF2B5EF4-FFF2-40B4-BE49-F238E27FC236}">
                <a16:creationId xmlns:a16="http://schemas.microsoft.com/office/drawing/2014/main" id="{E8F8A142-D66C-B306-8EA1-C1D7568C9207}"/>
              </a:ext>
            </a:extLst>
          </p:cNvPr>
          <p:cNvSpPr/>
          <p:nvPr/>
        </p:nvSpPr>
        <p:spPr>
          <a:xfrm>
            <a:off x="10802779" y="6722388"/>
            <a:ext cx="2799397" cy="378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000000"/>
                </a:solidFill>
                <a:latin typeface="Montserrat" panose="00000500000000000000" pitchFamily="2" charset="0"/>
                <a:ea typeface="Heebo Light" pitchFamily="34" charset="-122"/>
                <a:cs typeface="Heebo Light" pitchFamily="34" charset="-120"/>
              </a:rPr>
              <a:t>📅</a:t>
            </a:r>
            <a:r>
              <a:rPr lang="en-US" sz="1750">
                <a:solidFill>
                  <a:srgbClr val="DCD7E5"/>
                </a:solidFill>
                <a:latin typeface="Montserrat" panose="00000500000000000000" pitchFamily="2" charset="0"/>
                <a:ea typeface="Heebo Light" pitchFamily="34" charset="-122"/>
                <a:cs typeface="Heebo Light" pitchFamily="34" charset="-120"/>
              </a:rPr>
              <a:t> Planned</a:t>
            </a:r>
            <a:endParaRPr lang="en-US" sz="175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81433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E56B7-6A27-F855-1593-5CF2CC417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2C9C7906-FAB4-D45E-99F7-E1A5CEF5D89C}"/>
              </a:ext>
            </a:extLst>
          </p:cNvPr>
          <p:cNvSpPr/>
          <p:nvPr/>
        </p:nvSpPr>
        <p:spPr>
          <a:xfrm>
            <a:off x="774900" y="35078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000" dirty="0">
                <a:solidFill>
                  <a:srgbClr val="F2F0F4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Results So Far</a:t>
            </a:r>
            <a:endParaRPr lang="en-US" sz="4000" dirty="0">
              <a:latin typeface="Montserrat" panose="00000500000000000000" pitchFamily="2" charset="0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34279AE2-6650-D68E-66D2-A1199A056131}"/>
              </a:ext>
            </a:extLst>
          </p:cNvPr>
          <p:cNvSpPr/>
          <p:nvPr/>
        </p:nvSpPr>
        <p:spPr>
          <a:xfrm>
            <a:off x="8782078" y="7830618"/>
            <a:ext cx="5147562" cy="243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Montserrat" panose="00000500000000000000" pitchFamily="2" charset="0"/>
                <a:ea typeface="Quattrocento" pitchFamily="34" charset="-122"/>
                <a:cs typeface="Quattrocento" pitchFamily="34" charset="-120"/>
              </a:rPr>
              <a:t>Our beta testing demonstrates strong platform effectiveness across all core metrics.</a:t>
            </a:r>
            <a:endParaRPr lang="en-US" sz="1200" dirty="0">
              <a:latin typeface="Montserrat" panose="00000500000000000000" pitchFamily="2" charset="0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55055877-99E8-5376-2210-00D705C751C8}"/>
              </a:ext>
            </a:extLst>
          </p:cNvPr>
          <p:cNvSpPr/>
          <p:nvPr/>
        </p:nvSpPr>
        <p:spPr>
          <a:xfrm>
            <a:off x="2067324" y="2224110"/>
            <a:ext cx="1685568" cy="342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F9EEE7"/>
                </a:solidFill>
                <a:latin typeface="Montserrat" panose="00000500000000000000" pitchFamily="2" charset="0"/>
                <a:ea typeface="Quattrocento" pitchFamily="34" charset="-122"/>
                <a:cs typeface="Quattrocento" pitchFamily="34" charset="-120"/>
              </a:rPr>
              <a:t>87%</a:t>
            </a:r>
            <a:endParaRPr lang="en-US" sz="2650" dirty="0">
              <a:latin typeface="Montserrat" panose="00000500000000000000" pitchFamily="2" charset="0"/>
            </a:endParaRPr>
          </a:p>
        </p:txBody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4C39558B-2CA2-CB15-2114-81685B148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420" y="1367694"/>
            <a:ext cx="2055614" cy="2055614"/>
          </a:xfrm>
          <a:prstGeom prst="rect">
            <a:avLst/>
          </a:prstGeom>
        </p:spPr>
      </p:pic>
      <p:sp>
        <p:nvSpPr>
          <p:cNvPr id="16" name="Text 3">
            <a:extLst>
              <a:ext uri="{FF2B5EF4-FFF2-40B4-BE49-F238E27FC236}">
                <a16:creationId xmlns:a16="http://schemas.microsoft.com/office/drawing/2014/main" id="{5DDB59D0-198B-2328-C54E-FCDF3AF9B355}"/>
              </a:ext>
            </a:extLst>
          </p:cNvPr>
          <p:cNvSpPr/>
          <p:nvPr/>
        </p:nvSpPr>
        <p:spPr>
          <a:xfrm>
            <a:off x="2104114" y="3594520"/>
            <a:ext cx="1612225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Montserrat" panose="00000500000000000000" pitchFamily="2" charset="0"/>
                <a:ea typeface="Quattrocento" pitchFamily="34" charset="-122"/>
                <a:cs typeface="Quattrocento" pitchFamily="34" charset="-120"/>
              </a:rPr>
              <a:t>Chat bot Accuracy</a:t>
            </a:r>
            <a:endParaRPr lang="en-US" sz="1400" dirty="0">
              <a:latin typeface="Montserrat" panose="00000500000000000000" pitchFamily="2" charset="0"/>
            </a:endParaRPr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7930F05F-6B23-6ABE-2E82-2EB2A5484B98}"/>
              </a:ext>
            </a:extLst>
          </p:cNvPr>
          <p:cNvSpPr/>
          <p:nvPr/>
        </p:nvSpPr>
        <p:spPr>
          <a:xfrm>
            <a:off x="774900" y="3878126"/>
            <a:ext cx="4270772" cy="219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Montserrat" panose="00000500000000000000" pitchFamily="2" charset="0"/>
                <a:ea typeface="Quattrocento" pitchFamily="34" charset="-122"/>
                <a:cs typeface="Quattrocento" pitchFamily="34" charset="-120"/>
              </a:rPr>
              <a:t>Chatbot accuracy on test data</a:t>
            </a:r>
            <a:endParaRPr lang="en-US" sz="1400" dirty="0">
              <a:latin typeface="Montserrat" panose="00000500000000000000" pitchFamily="2" charset="0"/>
            </a:endParaRPr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A2B07232-6FB6-DBE3-5DC7-BEE166C6BD96}"/>
              </a:ext>
            </a:extLst>
          </p:cNvPr>
          <p:cNvSpPr/>
          <p:nvPr/>
        </p:nvSpPr>
        <p:spPr>
          <a:xfrm>
            <a:off x="6509308" y="2224110"/>
            <a:ext cx="1685568" cy="342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F9EEE7"/>
                </a:solidFill>
                <a:latin typeface="Montserrat" panose="00000500000000000000" pitchFamily="2" charset="0"/>
                <a:ea typeface="Quattrocento" pitchFamily="34" charset="-122"/>
                <a:cs typeface="Quattrocento" pitchFamily="34" charset="-120"/>
              </a:rPr>
              <a:t>5</a:t>
            </a:r>
            <a:endParaRPr lang="en-US" sz="2650" dirty="0">
              <a:latin typeface="Montserrat" panose="00000500000000000000" pitchFamily="2" charset="0"/>
            </a:endParaRPr>
          </a:p>
        </p:txBody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47B0F1E0-87ED-A439-C06E-A819F214E28B}"/>
              </a:ext>
            </a:extLst>
          </p:cNvPr>
          <p:cNvSpPr/>
          <p:nvPr/>
        </p:nvSpPr>
        <p:spPr>
          <a:xfrm>
            <a:off x="6546098" y="3594520"/>
            <a:ext cx="1612225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Montserrat" panose="00000500000000000000" pitchFamily="2" charset="0"/>
                <a:ea typeface="Quattrocento" pitchFamily="34" charset="-122"/>
                <a:cs typeface="Quattrocento" pitchFamily="34" charset="-120"/>
              </a:rPr>
              <a:t>RL Agents Trained</a:t>
            </a:r>
            <a:endParaRPr lang="en-US" sz="1400" dirty="0">
              <a:latin typeface="Montserrat" panose="00000500000000000000" pitchFamily="2" charset="0"/>
            </a:endParaRPr>
          </a:p>
        </p:txBody>
      </p:sp>
      <p:sp>
        <p:nvSpPr>
          <p:cNvPr id="32" name="Text 7">
            <a:extLst>
              <a:ext uri="{FF2B5EF4-FFF2-40B4-BE49-F238E27FC236}">
                <a16:creationId xmlns:a16="http://schemas.microsoft.com/office/drawing/2014/main" id="{2CA380ED-01B4-C619-1755-653195156F2E}"/>
              </a:ext>
            </a:extLst>
          </p:cNvPr>
          <p:cNvSpPr/>
          <p:nvPr/>
        </p:nvSpPr>
        <p:spPr>
          <a:xfrm>
            <a:off x="5216884" y="3878126"/>
            <a:ext cx="4270772" cy="219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Montserrat" panose="00000500000000000000" pitchFamily="2" charset="0"/>
                <a:ea typeface="Quattrocento" pitchFamily="34" charset="-122"/>
                <a:cs typeface="Quattrocento" pitchFamily="34" charset="-120"/>
              </a:rPr>
              <a:t>Reinforcement learning agents trained for portfolio optimization</a:t>
            </a:r>
            <a:endParaRPr lang="en-US" sz="1400" dirty="0">
              <a:latin typeface="Montserrat" panose="00000500000000000000" pitchFamily="2" charset="0"/>
            </a:endParaRPr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2E993789-ECA0-55CF-BAB9-263657545563}"/>
              </a:ext>
            </a:extLst>
          </p:cNvPr>
          <p:cNvSpPr/>
          <p:nvPr/>
        </p:nvSpPr>
        <p:spPr>
          <a:xfrm>
            <a:off x="2067324" y="5481184"/>
            <a:ext cx="1685568" cy="342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F9EEE7"/>
                </a:solidFill>
                <a:latin typeface="Montserrat" panose="00000500000000000000" pitchFamily="2" charset="0"/>
                <a:ea typeface="Quattrocento" pitchFamily="34" charset="-122"/>
                <a:cs typeface="Quattrocento" pitchFamily="34" charset="-120"/>
              </a:rPr>
              <a:t>4M+</a:t>
            </a:r>
            <a:endParaRPr lang="en-US" sz="2650" dirty="0">
              <a:latin typeface="Montserrat" panose="00000500000000000000" pitchFamily="2" charset="0"/>
            </a:endParaRPr>
          </a:p>
        </p:txBody>
      </p:sp>
      <p:sp>
        <p:nvSpPr>
          <p:cNvPr id="46" name="Text 12">
            <a:extLst>
              <a:ext uri="{FF2B5EF4-FFF2-40B4-BE49-F238E27FC236}">
                <a16:creationId xmlns:a16="http://schemas.microsoft.com/office/drawing/2014/main" id="{7CC54364-294D-C94C-3BF3-6FDDBEEC9399}"/>
              </a:ext>
            </a:extLst>
          </p:cNvPr>
          <p:cNvSpPr/>
          <p:nvPr/>
        </p:nvSpPr>
        <p:spPr>
          <a:xfrm>
            <a:off x="2104114" y="6851593"/>
            <a:ext cx="1612225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Montserrat" panose="00000500000000000000" pitchFamily="2" charset="0"/>
                <a:ea typeface="Quattrocento" pitchFamily="34" charset="-122"/>
                <a:cs typeface="Quattrocento" pitchFamily="34" charset="-120"/>
              </a:rPr>
              <a:t>Data Stored</a:t>
            </a:r>
            <a:endParaRPr lang="en-US" sz="1400" dirty="0">
              <a:latin typeface="Montserrat" panose="00000500000000000000" pitchFamily="2" charset="0"/>
            </a:endParaRPr>
          </a:p>
        </p:txBody>
      </p:sp>
      <p:sp>
        <p:nvSpPr>
          <p:cNvPr id="48" name="Text 13">
            <a:extLst>
              <a:ext uri="{FF2B5EF4-FFF2-40B4-BE49-F238E27FC236}">
                <a16:creationId xmlns:a16="http://schemas.microsoft.com/office/drawing/2014/main" id="{305B01BD-4573-9604-D7C3-A8164BC0F1CC}"/>
              </a:ext>
            </a:extLst>
          </p:cNvPr>
          <p:cNvSpPr/>
          <p:nvPr/>
        </p:nvSpPr>
        <p:spPr>
          <a:xfrm>
            <a:off x="774900" y="7135200"/>
            <a:ext cx="4270772" cy="219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Montserrat" panose="00000500000000000000" pitchFamily="2" charset="0"/>
                <a:ea typeface="Quattrocento" pitchFamily="34" charset="-122"/>
                <a:cs typeface="Quattrocento" pitchFamily="34" charset="-120"/>
              </a:rPr>
              <a:t>Rows of data stored in database</a:t>
            </a:r>
            <a:endParaRPr lang="en-US" sz="1400" dirty="0">
              <a:latin typeface="Montserrat" panose="00000500000000000000" pitchFamily="2" charset="0"/>
            </a:endParaRPr>
          </a:p>
        </p:txBody>
      </p:sp>
      <p:sp>
        <p:nvSpPr>
          <p:cNvPr id="50" name="Text 14">
            <a:extLst>
              <a:ext uri="{FF2B5EF4-FFF2-40B4-BE49-F238E27FC236}">
                <a16:creationId xmlns:a16="http://schemas.microsoft.com/office/drawing/2014/main" id="{0A2BCCEB-D040-63C6-4819-EB00376B6830}"/>
              </a:ext>
            </a:extLst>
          </p:cNvPr>
          <p:cNvSpPr/>
          <p:nvPr/>
        </p:nvSpPr>
        <p:spPr>
          <a:xfrm>
            <a:off x="6509308" y="5481184"/>
            <a:ext cx="1685568" cy="342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F9EEE7"/>
                </a:solidFill>
                <a:latin typeface="Montserrat" panose="00000500000000000000" pitchFamily="2" charset="0"/>
                <a:ea typeface="Quattrocento" pitchFamily="34" charset="-122"/>
                <a:cs typeface="Quattrocento" pitchFamily="34" charset="-120"/>
              </a:rPr>
              <a:t>35+</a:t>
            </a:r>
            <a:endParaRPr lang="en-US" sz="2650" dirty="0">
              <a:latin typeface="Montserrat" panose="00000500000000000000" pitchFamily="2" charset="0"/>
            </a:endParaRPr>
          </a:p>
        </p:txBody>
      </p:sp>
      <p:pic>
        <p:nvPicPr>
          <p:cNvPr id="52" name="Image 4" descr="preencoded.png">
            <a:extLst>
              <a:ext uri="{FF2B5EF4-FFF2-40B4-BE49-F238E27FC236}">
                <a16:creationId xmlns:a16="http://schemas.microsoft.com/office/drawing/2014/main" id="{F7DDD7BB-A702-0563-A9EB-1CB1D65626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7333" y="4612411"/>
            <a:ext cx="2055614" cy="2055614"/>
          </a:xfrm>
          <a:prstGeom prst="rect">
            <a:avLst/>
          </a:prstGeom>
        </p:spPr>
      </p:pic>
      <p:sp>
        <p:nvSpPr>
          <p:cNvPr id="54" name="Text 15">
            <a:extLst>
              <a:ext uri="{FF2B5EF4-FFF2-40B4-BE49-F238E27FC236}">
                <a16:creationId xmlns:a16="http://schemas.microsoft.com/office/drawing/2014/main" id="{F72DDC15-4F04-82F1-009C-0C616E07090D}"/>
              </a:ext>
            </a:extLst>
          </p:cNvPr>
          <p:cNvSpPr/>
          <p:nvPr/>
        </p:nvSpPr>
        <p:spPr>
          <a:xfrm>
            <a:off x="6546098" y="6851593"/>
            <a:ext cx="1612225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550"/>
              </a:lnSpc>
            </a:pPr>
            <a:r>
              <a:rPr lang="en-US" sz="1400" dirty="0">
                <a:solidFill>
                  <a:srgbClr val="F9EEE7"/>
                </a:solidFill>
                <a:latin typeface="Montserrat" panose="00000500000000000000" pitchFamily="2" charset="0"/>
              </a:rPr>
              <a:t>Cryptos, Forex, and Commodities</a:t>
            </a:r>
          </a:p>
        </p:txBody>
      </p:sp>
      <p:sp>
        <p:nvSpPr>
          <p:cNvPr id="56" name="Text 16">
            <a:extLst>
              <a:ext uri="{FF2B5EF4-FFF2-40B4-BE49-F238E27FC236}">
                <a16:creationId xmlns:a16="http://schemas.microsoft.com/office/drawing/2014/main" id="{640A7707-1674-07CD-2AFF-756638BF23E8}"/>
              </a:ext>
            </a:extLst>
          </p:cNvPr>
          <p:cNvSpPr/>
          <p:nvPr/>
        </p:nvSpPr>
        <p:spPr>
          <a:xfrm>
            <a:off x="5216884" y="7135200"/>
            <a:ext cx="4270772" cy="219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700"/>
              </a:lnSpc>
            </a:pPr>
            <a:r>
              <a:rPr lang="en-US" sz="1400" dirty="0">
                <a:solidFill>
                  <a:srgbClr val="F9EEE7"/>
                </a:solidFill>
                <a:latin typeface="Montserrat" panose="00000500000000000000" pitchFamily="2" charset="0"/>
              </a:rPr>
              <a:t>Symbols tracked</a:t>
            </a:r>
          </a:p>
        </p:txBody>
      </p:sp>
      <p:sp>
        <p:nvSpPr>
          <p:cNvPr id="58" name="Text 17">
            <a:extLst>
              <a:ext uri="{FF2B5EF4-FFF2-40B4-BE49-F238E27FC236}">
                <a16:creationId xmlns:a16="http://schemas.microsoft.com/office/drawing/2014/main" id="{053A6647-2B2F-2729-BC5E-F07FD8CE7455}"/>
              </a:ext>
            </a:extLst>
          </p:cNvPr>
          <p:cNvSpPr/>
          <p:nvPr/>
        </p:nvSpPr>
        <p:spPr>
          <a:xfrm>
            <a:off x="10951291" y="5481184"/>
            <a:ext cx="1685568" cy="342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F9EEE7"/>
                </a:solidFill>
                <a:latin typeface="Montserrat" panose="00000500000000000000" pitchFamily="2" charset="0"/>
                <a:ea typeface="Quattrocento" pitchFamily="34" charset="-122"/>
                <a:cs typeface="Quattrocento" pitchFamily="34" charset="-120"/>
              </a:rPr>
              <a:t>1885+</a:t>
            </a:r>
            <a:endParaRPr lang="en-US" sz="2650" dirty="0">
              <a:latin typeface="Montserrat" panose="00000500000000000000" pitchFamily="2" charset="0"/>
            </a:endParaRPr>
          </a:p>
        </p:txBody>
      </p:sp>
      <p:pic>
        <p:nvPicPr>
          <p:cNvPr id="60" name="Image 5" descr="preencoded.png">
            <a:extLst>
              <a:ext uri="{FF2B5EF4-FFF2-40B4-BE49-F238E27FC236}">
                <a16:creationId xmlns:a16="http://schemas.microsoft.com/office/drawing/2014/main" id="{F0CF92ED-BDE6-B435-8484-0B56560A2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6387" y="4624767"/>
            <a:ext cx="2055614" cy="2055614"/>
          </a:xfrm>
          <a:prstGeom prst="rect">
            <a:avLst/>
          </a:prstGeom>
        </p:spPr>
      </p:pic>
      <p:sp>
        <p:nvSpPr>
          <p:cNvPr id="62" name="Text 18">
            <a:extLst>
              <a:ext uri="{FF2B5EF4-FFF2-40B4-BE49-F238E27FC236}">
                <a16:creationId xmlns:a16="http://schemas.microsoft.com/office/drawing/2014/main" id="{759CE23F-B0EB-B503-8A70-CD2C1534E5FB}"/>
              </a:ext>
            </a:extLst>
          </p:cNvPr>
          <p:cNvSpPr/>
          <p:nvPr/>
        </p:nvSpPr>
        <p:spPr>
          <a:xfrm>
            <a:off x="10988082" y="6851593"/>
            <a:ext cx="1612225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Montserrat" panose="00000500000000000000" pitchFamily="2" charset="0"/>
                <a:ea typeface="Quattrocento" pitchFamily="34" charset="-122"/>
                <a:cs typeface="Quattrocento" pitchFamily="34" charset="-120"/>
              </a:rPr>
              <a:t>Market Coverage</a:t>
            </a:r>
            <a:endParaRPr lang="en-US" sz="1400" dirty="0">
              <a:latin typeface="Montserrat" panose="00000500000000000000" pitchFamily="2" charset="0"/>
            </a:endParaRPr>
          </a:p>
        </p:txBody>
      </p:sp>
      <p:sp>
        <p:nvSpPr>
          <p:cNvPr id="64" name="Text 19">
            <a:extLst>
              <a:ext uri="{FF2B5EF4-FFF2-40B4-BE49-F238E27FC236}">
                <a16:creationId xmlns:a16="http://schemas.microsoft.com/office/drawing/2014/main" id="{FFB3F5A5-1DD4-B9A9-753D-4F81735F209A}"/>
              </a:ext>
            </a:extLst>
          </p:cNvPr>
          <p:cNvSpPr/>
          <p:nvPr/>
        </p:nvSpPr>
        <p:spPr>
          <a:xfrm>
            <a:off x="9658868" y="7135200"/>
            <a:ext cx="4270772" cy="219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Montserrat" panose="00000500000000000000" pitchFamily="2" charset="0"/>
                <a:ea typeface="Quattrocento" pitchFamily="34" charset="-122"/>
                <a:cs typeface="Quattrocento" pitchFamily="34" charset="-120"/>
              </a:rPr>
              <a:t>ASX stocks symbols tracked</a:t>
            </a:r>
            <a:endParaRPr lang="en-US" sz="1400" dirty="0">
              <a:latin typeface="Montserrat" panose="00000500000000000000" pitchFamily="2" charset="0"/>
            </a:endParaRPr>
          </a:p>
        </p:txBody>
      </p:sp>
      <p:pic>
        <p:nvPicPr>
          <p:cNvPr id="65" name="Image 4" descr="preencoded.png">
            <a:extLst>
              <a:ext uri="{FF2B5EF4-FFF2-40B4-BE49-F238E27FC236}">
                <a16:creationId xmlns:a16="http://schemas.microsoft.com/office/drawing/2014/main" id="{9FC7182B-3796-D013-9471-8DC7B3A5BE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403" y="1350226"/>
            <a:ext cx="2055614" cy="2055614"/>
          </a:xfrm>
          <a:prstGeom prst="rect">
            <a:avLst/>
          </a:prstGeom>
        </p:spPr>
      </p:pic>
      <p:pic>
        <p:nvPicPr>
          <p:cNvPr id="67" name="Image 4" descr="preencoded.png">
            <a:extLst>
              <a:ext uri="{FF2B5EF4-FFF2-40B4-BE49-F238E27FC236}">
                <a16:creationId xmlns:a16="http://schemas.microsoft.com/office/drawing/2014/main" id="{5B0F8645-9963-E682-45E6-C493139FB0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5970" y="4624767"/>
            <a:ext cx="2055614" cy="2055614"/>
          </a:xfrm>
          <a:prstGeom prst="rect">
            <a:avLst/>
          </a:prstGeom>
        </p:spPr>
      </p:pic>
      <p:sp>
        <p:nvSpPr>
          <p:cNvPr id="72" name="Text 14">
            <a:extLst>
              <a:ext uri="{FF2B5EF4-FFF2-40B4-BE49-F238E27FC236}">
                <a16:creationId xmlns:a16="http://schemas.microsoft.com/office/drawing/2014/main" id="{50EF062F-208F-CB3A-F57A-73CA5D9D41E4}"/>
              </a:ext>
            </a:extLst>
          </p:cNvPr>
          <p:cNvSpPr/>
          <p:nvPr/>
        </p:nvSpPr>
        <p:spPr>
          <a:xfrm>
            <a:off x="10908314" y="2231357"/>
            <a:ext cx="1685568" cy="342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F9EEE7"/>
                </a:solidFill>
                <a:latin typeface="Montserrat" panose="00000500000000000000" pitchFamily="2" charset="0"/>
                <a:ea typeface="Quattrocento" pitchFamily="34" charset="-122"/>
                <a:cs typeface="Quattrocento" pitchFamily="34" charset="-120"/>
              </a:rPr>
              <a:t>250K+</a:t>
            </a:r>
            <a:endParaRPr lang="en-US" sz="2650" dirty="0">
              <a:latin typeface="Montserrat" panose="00000500000000000000" pitchFamily="2" charset="0"/>
            </a:endParaRPr>
          </a:p>
        </p:txBody>
      </p:sp>
      <p:pic>
        <p:nvPicPr>
          <p:cNvPr id="73" name="Image 4" descr="preencoded.png">
            <a:extLst>
              <a:ext uri="{FF2B5EF4-FFF2-40B4-BE49-F238E27FC236}">
                <a16:creationId xmlns:a16="http://schemas.microsoft.com/office/drawing/2014/main" id="{0C154137-990C-6D03-A3B1-346E5C8C0D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3409" y="1374940"/>
            <a:ext cx="2055614" cy="2055614"/>
          </a:xfrm>
          <a:prstGeom prst="rect">
            <a:avLst/>
          </a:prstGeom>
        </p:spPr>
      </p:pic>
      <p:sp>
        <p:nvSpPr>
          <p:cNvPr id="74" name="Text 15">
            <a:extLst>
              <a:ext uri="{FF2B5EF4-FFF2-40B4-BE49-F238E27FC236}">
                <a16:creationId xmlns:a16="http://schemas.microsoft.com/office/drawing/2014/main" id="{BD222EEE-B256-A080-9047-8799FA6F4696}"/>
              </a:ext>
            </a:extLst>
          </p:cNvPr>
          <p:cNvSpPr/>
          <p:nvPr/>
        </p:nvSpPr>
        <p:spPr>
          <a:xfrm>
            <a:off x="10945104" y="3601766"/>
            <a:ext cx="1612225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Montserrat" panose="00000500000000000000" pitchFamily="2" charset="0"/>
                <a:ea typeface="Quattrocento" pitchFamily="34" charset="-122"/>
                <a:cs typeface="Quattrocento" pitchFamily="34" charset="-120"/>
              </a:rPr>
              <a:t>Lines of Code</a:t>
            </a:r>
            <a:endParaRPr lang="en-US" sz="1400" dirty="0">
              <a:latin typeface="Montserrat" panose="00000500000000000000" pitchFamily="2" charset="0"/>
            </a:endParaRPr>
          </a:p>
        </p:txBody>
      </p:sp>
      <p:sp>
        <p:nvSpPr>
          <p:cNvPr id="75" name="Text 16">
            <a:extLst>
              <a:ext uri="{FF2B5EF4-FFF2-40B4-BE49-F238E27FC236}">
                <a16:creationId xmlns:a16="http://schemas.microsoft.com/office/drawing/2014/main" id="{5E68889C-1DB7-8B63-C6C9-5DAD3EE9BD65}"/>
              </a:ext>
            </a:extLst>
          </p:cNvPr>
          <p:cNvSpPr/>
          <p:nvPr/>
        </p:nvSpPr>
        <p:spPr>
          <a:xfrm>
            <a:off x="9615890" y="3885373"/>
            <a:ext cx="4270772" cy="219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Montserrat" panose="00000500000000000000" pitchFamily="2" charset="0"/>
                <a:ea typeface="Quattrocento" pitchFamily="34" charset="-122"/>
                <a:cs typeface="Quattrocento" pitchFamily="34" charset="-120"/>
              </a:rPr>
              <a:t>Lines of code developed for the platform</a:t>
            </a:r>
            <a:endParaRPr lang="en-US" sz="14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7072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4E628-65DF-3880-BF83-CA6E6FB7D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EDBD56AE-4562-1D0C-80F9-2D3D5823F1F0}"/>
              </a:ext>
            </a:extLst>
          </p:cNvPr>
          <p:cNvSpPr/>
          <p:nvPr/>
        </p:nvSpPr>
        <p:spPr>
          <a:xfrm>
            <a:off x="554846" y="1839626"/>
            <a:ext cx="430525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50">
                <a:solidFill>
                  <a:srgbClr val="F2F0F4"/>
                </a:solidFill>
                <a:latin typeface="Montserrat"/>
              </a:rPr>
              <a:t>Next Steps</a:t>
            </a:r>
            <a:endParaRPr lang="en-US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2990D742-3F9A-9C48-7F95-04EC1FF25B73}"/>
              </a:ext>
            </a:extLst>
          </p:cNvPr>
          <p:cNvSpPr/>
          <p:nvPr/>
        </p:nvSpPr>
        <p:spPr>
          <a:xfrm>
            <a:off x="338865" y="2966655"/>
            <a:ext cx="9215444" cy="4887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buFont typeface="Arial"/>
              <a:buChar char="•"/>
            </a:pPr>
            <a:r>
              <a:rPr lang="en-US" sz="2000" b="1" dirty="0">
                <a:solidFill>
                  <a:srgbClr val="DCD7E5"/>
                </a:solidFill>
                <a:latin typeface="Montserrat"/>
                <a:ea typeface="+mn-lt"/>
                <a:cs typeface="+mn-lt"/>
              </a:rPr>
              <a:t>Expand MVP to select global markets</a:t>
            </a:r>
            <a:endParaRPr lang="en-US" sz="2000" b="1" dirty="0">
              <a:solidFill>
                <a:srgbClr val="000000"/>
              </a:solidFill>
              <a:latin typeface="Montserrat"/>
              <a:ea typeface="+mn-lt"/>
              <a:cs typeface="+mn-lt"/>
            </a:endParaRPr>
          </a:p>
          <a:p>
            <a:r>
              <a:rPr lang="en-US" sz="2000" dirty="0">
                <a:solidFill>
                  <a:srgbClr val="DCD7E5"/>
                </a:solidFill>
                <a:latin typeface="Montserrat"/>
                <a:ea typeface="+mn-lt"/>
                <a:cs typeface="+mn-lt"/>
              </a:rPr>
              <a:t>   Expand our project from Australian Markets to major Global markets.</a:t>
            </a:r>
            <a:endParaRPr lang="en-US" sz="2000" dirty="0">
              <a:solidFill>
                <a:srgbClr val="000000"/>
              </a:solidFill>
              <a:latin typeface="Montserrat"/>
              <a:ea typeface="+mn-lt"/>
              <a:cs typeface="+mn-lt"/>
            </a:endParaRPr>
          </a:p>
          <a:p>
            <a:endParaRPr lang="en-US" sz="2000" dirty="0">
              <a:solidFill>
                <a:srgbClr val="DCD7E5"/>
              </a:solidFill>
              <a:latin typeface="Montserrat"/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000" b="1" dirty="0">
                <a:solidFill>
                  <a:srgbClr val="DCD7E5"/>
                </a:solidFill>
                <a:latin typeface="Montserrat"/>
                <a:ea typeface="+mn-lt"/>
                <a:cs typeface="+mn-lt"/>
              </a:rPr>
              <a:t>Integrate multilingual chatbot</a:t>
            </a:r>
            <a:endParaRPr lang="en-US" sz="2000" b="1" dirty="0">
              <a:solidFill>
                <a:srgbClr val="000000"/>
              </a:solidFill>
              <a:latin typeface="Montserrat"/>
              <a:ea typeface="+mn-lt"/>
              <a:cs typeface="+mn-lt"/>
            </a:endParaRPr>
          </a:p>
          <a:p>
            <a:r>
              <a:rPr lang="en-US" sz="2000" dirty="0">
                <a:solidFill>
                  <a:srgbClr val="DCD7E5"/>
                </a:solidFill>
                <a:latin typeface="Montserrat"/>
                <a:ea typeface="+mn-lt"/>
                <a:cs typeface="+mn-lt"/>
              </a:rPr>
              <a:t>  Make </a:t>
            </a:r>
            <a:r>
              <a:rPr lang="en-US" sz="2000" dirty="0" err="1">
                <a:solidFill>
                  <a:srgbClr val="DCD7E5"/>
                </a:solidFill>
                <a:latin typeface="Montserrat"/>
                <a:ea typeface="+mn-lt"/>
                <a:cs typeface="+mn-lt"/>
              </a:rPr>
              <a:t>WealthArena</a:t>
            </a:r>
            <a:r>
              <a:rPr lang="en-US" sz="2000" dirty="0">
                <a:solidFill>
                  <a:srgbClr val="DCD7E5"/>
                </a:solidFill>
                <a:latin typeface="Montserrat"/>
                <a:ea typeface="+mn-lt"/>
                <a:cs typeface="+mn-lt"/>
              </a:rPr>
              <a:t> accessible to diverse users across globe.</a:t>
            </a:r>
            <a:endParaRPr lang="en-US" sz="2000" dirty="0">
              <a:solidFill>
                <a:srgbClr val="000000"/>
              </a:solidFill>
              <a:latin typeface="Montserrat"/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endParaRPr lang="en-US" sz="2000" dirty="0">
              <a:solidFill>
                <a:srgbClr val="DCD7E5"/>
              </a:solidFill>
              <a:latin typeface="Montserrat"/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000" b="1" dirty="0">
                <a:solidFill>
                  <a:srgbClr val="DCD7E5"/>
                </a:solidFill>
                <a:latin typeface="Montserrat"/>
                <a:ea typeface="+mn-lt"/>
                <a:cs typeface="+mn-lt"/>
              </a:rPr>
              <a:t>Launch premium “Risk Simulator” tier</a:t>
            </a:r>
            <a:endParaRPr lang="en-US" sz="2000" b="1" dirty="0">
              <a:solidFill>
                <a:srgbClr val="000000"/>
              </a:solidFill>
              <a:latin typeface="Montserrat"/>
              <a:ea typeface="+mn-lt"/>
              <a:cs typeface="+mn-lt"/>
            </a:endParaRPr>
          </a:p>
          <a:p>
            <a:r>
              <a:rPr lang="en-US" sz="2000" dirty="0">
                <a:solidFill>
                  <a:srgbClr val="DCD7E5"/>
                </a:solidFill>
                <a:latin typeface="Montserrat"/>
                <a:ea typeface="+mn-lt"/>
                <a:cs typeface="+mn-lt"/>
              </a:rPr>
              <a:t>  Offer advanced insights and personalized portfolio risk forecasting.</a:t>
            </a:r>
            <a:endParaRPr lang="en-US" sz="2000" dirty="0">
              <a:solidFill>
                <a:srgbClr val="000000"/>
              </a:solidFill>
              <a:latin typeface="Montserrat"/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endParaRPr lang="en-US" sz="2000" dirty="0">
              <a:solidFill>
                <a:srgbClr val="DCD7E5"/>
              </a:solidFill>
              <a:latin typeface="Montserrat"/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000" b="1" dirty="0">
                <a:solidFill>
                  <a:srgbClr val="DCD7E5"/>
                </a:solidFill>
                <a:latin typeface="Montserrat"/>
                <a:ea typeface="+mn-lt"/>
                <a:cs typeface="+mn-lt"/>
              </a:rPr>
              <a:t>Partner with fintech accelerators for scale</a:t>
            </a:r>
            <a:endParaRPr lang="en-US" sz="2000" b="1" dirty="0">
              <a:solidFill>
                <a:srgbClr val="000000"/>
              </a:solidFill>
              <a:latin typeface="Montserrat"/>
              <a:ea typeface="+mn-lt"/>
              <a:cs typeface="+mn-lt"/>
            </a:endParaRPr>
          </a:p>
          <a:p>
            <a:r>
              <a:rPr lang="en-US" sz="2000" dirty="0">
                <a:solidFill>
                  <a:srgbClr val="DCD7E5"/>
                </a:solidFill>
                <a:latin typeface="Montserrat"/>
                <a:ea typeface="+mn-lt"/>
                <a:cs typeface="+mn-lt"/>
              </a:rPr>
              <a:t>  Gain mentorship, visibility, and access to strategic investors.</a:t>
            </a:r>
            <a:endParaRPr lang="en-US" sz="2000" dirty="0">
              <a:solidFill>
                <a:srgbClr val="000000"/>
              </a:solidFill>
              <a:latin typeface="Montserrat"/>
              <a:ea typeface="+mn-lt"/>
              <a:cs typeface="+mn-lt"/>
            </a:endParaRPr>
          </a:p>
        </p:txBody>
      </p:sp>
      <p:pic>
        <p:nvPicPr>
          <p:cNvPr id="5" name="Picture 4" descr="A person throwing money in the air&#10;&#10;AI-generated content may be incorrect.">
            <a:extLst>
              <a:ext uri="{FF2B5EF4-FFF2-40B4-BE49-F238E27FC236}">
                <a16:creationId xmlns:a16="http://schemas.microsoft.com/office/drawing/2014/main" id="{7FD2ADCA-2AF1-6212-DBF4-E85F1C3680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152"/>
          <a:stretch>
            <a:fillRect/>
          </a:stretch>
        </p:blipFill>
        <p:spPr>
          <a:xfrm>
            <a:off x="9770301" y="2674"/>
            <a:ext cx="4859516" cy="8226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3511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E917E3A-557B-8877-69E4-5C6EBCC3145A}"/>
              </a:ext>
            </a:extLst>
          </p:cNvPr>
          <p:cNvSpPr/>
          <p:nvPr/>
        </p:nvSpPr>
        <p:spPr>
          <a:xfrm>
            <a:off x="793790" y="657364"/>
            <a:ext cx="5670590" cy="1105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</a:t>
            </a:r>
            <a:endParaRPr lang="en-US" sz="4450"/>
          </a:p>
        </p:txBody>
      </p:sp>
      <p:pic>
        <p:nvPicPr>
          <p:cNvPr id="3" name="WealthArena">
            <a:hlinkClick r:id="" action="ppaction://media"/>
            <a:extLst>
              <a:ext uri="{FF2B5EF4-FFF2-40B4-BE49-F238E27FC236}">
                <a16:creationId xmlns:a16="http://schemas.microsoft.com/office/drawing/2014/main" id="{3AF4DC2B-B0F8-7092-D6E3-2990B56BC35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51525" y="1408920"/>
            <a:ext cx="2925763" cy="59967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7BF4147-F1B0-AA9A-E822-F9ABDF08AB05}"/>
              </a:ext>
            </a:extLst>
          </p:cNvPr>
          <p:cNvSpPr txBox="1"/>
          <p:nvPr/>
        </p:nvSpPr>
        <p:spPr>
          <a:xfrm>
            <a:off x="4202348" y="7490297"/>
            <a:ext cx="618679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solidFill>
                  <a:schemeClr val="bg1"/>
                </a:solidFill>
                <a:ea typeface="Calibri"/>
                <a:cs typeface="Calibri"/>
              </a:rPr>
              <a:t>                 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8F6DF2-F811-BFAE-522E-90AC467A2D95}"/>
              </a:ext>
            </a:extLst>
          </p:cNvPr>
          <p:cNvSpPr txBox="1"/>
          <p:nvPr/>
        </p:nvSpPr>
        <p:spPr>
          <a:xfrm>
            <a:off x="2364739" y="7386782"/>
            <a:ext cx="1062700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600">
              <a:latin typeface="Montserrat"/>
              <a:ea typeface="Calibri"/>
              <a:cs typeface="Calibri"/>
            </a:endParaRPr>
          </a:p>
          <a:p>
            <a:pPr algn="l"/>
            <a:r>
              <a:rPr lang="en-US" sz="1600">
                <a:latin typeface="Montserrat"/>
                <a:ea typeface="Calibri"/>
                <a:cs typeface="Calibri"/>
                <a:hlinkClick r:id="rId5"/>
              </a:rPr>
              <a:t>https://drive.google.com/file/d/1GCRqyDkdaj2j0R73FRo_O6xSSoMnd0Up/view?usp=drivesdk</a:t>
            </a:r>
            <a:endParaRPr lang="en-US" sz="1600">
              <a:latin typeface="Montserrat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63480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2">
            <a:extLst>
              <a:ext uri="{FF2B5EF4-FFF2-40B4-BE49-F238E27FC236}">
                <a16:creationId xmlns:a16="http://schemas.microsoft.com/office/drawing/2014/main" id="{EFFD5B3A-A5EB-EAE0-798E-7119EC50087D}"/>
              </a:ext>
            </a:extLst>
          </p:cNvPr>
          <p:cNvSpPr/>
          <p:nvPr/>
        </p:nvSpPr>
        <p:spPr>
          <a:xfrm>
            <a:off x="793790" y="2238604"/>
            <a:ext cx="10706548" cy="493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ts val="2150"/>
              </a:lnSpc>
              <a:buSzPct val="100000"/>
              <a:buFont typeface="Arial" panose="020B0604020202020204" pitchFamily="34" charset="0"/>
              <a:buChar char="•"/>
            </a:pPr>
            <a:endParaRPr lang="en-US" sz="1600">
              <a:solidFill>
                <a:schemeClr val="bg2"/>
              </a:solidFill>
              <a:latin typeface="Heebo Light" pitchFamily="2" charset="-79"/>
              <a:cs typeface="Heebo Light" pitchFamily="2" charset="-79"/>
            </a:endParaRPr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35B821B6-8464-7444-6913-38993523B7ED}"/>
              </a:ext>
            </a:extLst>
          </p:cNvPr>
          <p:cNvSpPr/>
          <p:nvPr/>
        </p:nvSpPr>
        <p:spPr>
          <a:xfrm>
            <a:off x="476474" y="62272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References</a:t>
            </a:r>
            <a:endParaRPr lang="en-US" sz="4450"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6FEE63EC-3521-B0DF-6A10-AD5D40A788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707" y="1962446"/>
            <a:ext cx="14266985" cy="5478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DCD7E5"/>
                </a:solidFill>
                <a:effectLst/>
                <a:latin typeface="Heebo Light" pitchFamily="2" charset="-79"/>
                <a:cs typeface="Heebo Light" pitchFamily="2" charset="-79"/>
              </a:rPr>
              <a:t>ASX Limited. (2023). </a:t>
            </a:r>
            <a:r>
              <a:rPr kumimoji="0" lang="en-US" altLang="en-US" sz="1400" b="0" i="1" u="none" strike="noStrike" cap="none" normalizeH="0" baseline="0">
                <a:ln>
                  <a:noFill/>
                </a:ln>
                <a:solidFill>
                  <a:srgbClr val="DCD7E5"/>
                </a:solidFill>
                <a:effectLst/>
                <a:latin typeface="Heebo Light" pitchFamily="2" charset="-79"/>
                <a:cs typeface="Heebo Light" pitchFamily="2" charset="-79"/>
              </a:rPr>
              <a:t>Australian investor study 2023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DCD7E5"/>
                </a:solidFill>
                <a:effectLst/>
                <a:latin typeface="Heebo Light" pitchFamily="2" charset="-79"/>
                <a:cs typeface="Heebo Light" pitchFamily="2" charset="-79"/>
              </a:rPr>
              <a:t> (Report).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30863D"/>
                </a:solidFill>
                <a:effectLst/>
                <a:latin typeface="Heebo Light" pitchFamily="2" charset="-79"/>
                <a:cs typeface="Heebo Light" pitchFamily="2" charset="-79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https://www.asx.com.au/content/dam/asx/blog/asx-australian-investor-study-2023.pdf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30863D"/>
                </a:solidFill>
                <a:effectLst/>
                <a:latin typeface="Heebo Light" pitchFamily="2" charset="-79"/>
                <a:cs typeface="Heebo Light" pitchFamily="2" charset="-79"/>
              </a:rPr>
              <a:t>.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30863D"/>
                </a:solidFill>
                <a:effectLst/>
                <a:latin typeface="Heebo Light" pitchFamily="2" charset="-79"/>
                <a:cs typeface="Heebo Light" pitchFamily="2" charset="-79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Australian Securities Exchange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rgbClr val="30863D"/>
              </a:solidFill>
              <a:effectLst/>
              <a:latin typeface="Heebo Light" pitchFamily="2" charset="-79"/>
              <a:cs typeface="Heebo Light" pitchFamily="2" charset="-79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DCD7E5"/>
                </a:solidFill>
                <a:effectLst/>
                <a:latin typeface="Heebo Light" pitchFamily="2" charset="-79"/>
                <a:cs typeface="Heebo Light" pitchFamily="2" charset="-79"/>
              </a:rPr>
              <a:t>Australian Securities and Investments Commission. (2022). </a:t>
            </a:r>
            <a:r>
              <a:rPr kumimoji="0" lang="en-US" altLang="en-US" sz="1400" b="0" i="1" u="none" strike="noStrike" cap="none" normalizeH="0" baseline="0">
                <a:ln>
                  <a:noFill/>
                </a:ln>
                <a:solidFill>
                  <a:srgbClr val="DCD7E5"/>
                </a:solidFill>
                <a:effectLst/>
                <a:latin typeface="Heebo Light" pitchFamily="2" charset="-79"/>
                <a:cs typeface="Heebo Light" pitchFamily="2" charset="-79"/>
              </a:rPr>
              <a:t>Report 735: Retail investor research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DCD7E5"/>
                </a:solidFill>
                <a:effectLst/>
                <a:latin typeface="Heebo Light" pitchFamily="2" charset="-79"/>
                <a:cs typeface="Heebo Light" pitchFamily="2" charset="-79"/>
              </a:rPr>
              <a:t> (SEC </a:t>
            </a:r>
            <a:r>
              <a:rPr kumimoji="0" lang="en-US" altLang="en-US" sz="1400" b="0" i="0" u="none" strike="noStrike" cap="none" normalizeH="0" baseline="0" err="1">
                <a:ln>
                  <a:noFill/>
                </a:ln>
                <a:solidFill>
                  <a:srgbClr val="DCD7E5"/>
                </a:solidFill>
                <a:effectLst/>
                <a:latin typeface="Heebo Light" pitchFamily="2" charset="-79"/>
                <a:cs typeface="Heebo Light" pitchFamily="2" charset="-79"/>
              </a:rPr>
              <a:t>Newgate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DCD7E5"/>
                </a:solidFill>
                <a:effectLst/>
                <a:latin typeface="Heebo Light" pitchFamily="2" charset="-79"/>
                <a:cs typeface="Heebo Light" pitchFamily="2" charset="-79"/>
              </a:rPr>
              <a:t> study).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30863D"/>
                </a:solidFill>
                <a:effectLst/>
                <a:latin typeface="Heebo Light" pitchFamily="2" charset="-79"/>
                <a:cs typeface="Heebo Light" pitchFamily="2" charset="-79"/>
              </a:rPr>
              <a:t>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30863D"/>
                </a:solidFill>
                <a:effectLst/>
                <a:latin typeface="Heebo Light" pitchFamily="2" charset="-79"/>
                <a:cs typeface="Heebo Light" pitchFamily="2" charset="-79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https://download.asic.gov.au/media/z1nj5m5e/rep735-published-11-august-2022.pdf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30863D"/>
                </a:solidFill>
                <a:effectLst/>
                <a:latin typeface="Heebo Light" pitchFamily="2" charset="-79"/>
                <a:cs typeface="Heebo Light" pitchFamily="2" charset="-79"/>
              </a:rPr>
              <a:t>.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30863D"/>
                </a:solidFill>
                <a:effectLst/>
                <a:latin typeface="Heebo Light" pitchFamily="2" charset="-79"/>
                <a:cs typeface="Heebo Light" pitchFamily="2" charset="-79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download.asic.gov.au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rgbClr val="30863D"/>
              </a:solidFill>
              <a:effectLst/>
              <a:latin typeface="Heebo Light" pitchFamily="2" charset="-79"/>
              <a:cs typeface="Heebo Light" pitchFamily="2" charset="-79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DCD7E5"/>
                </a:solidFill>
                <a:effectLst/>
                <a:latin typeface="Heebo Light" pitchFamily="2" charset="-79"/>
                <a:cs typeface="Heebo Light" pitchFamily="2" charset="-79"/>
              </a:rPr>
              <a:t>Australian Securities and Investments Commission. (2022). </a:t>
            </a:r>
            <a:r>
              <a:rPr kumimoji="0" lang="en-US" altLang="en-US" sz="1400" b="0" i="1" u="none" strike="noStrike" cap="none" normalizeH="0" baseline="0">
                <a:ln>
                  <a:noFill/>
                </a:ln>
                <a:solidFill>
                  <a:srgbClr val="DCD7E5"/>
                </a:solidFill>
                <a:effectLst/>
                <a:latin typeface="Heebo Light" pitchFamily="2" charset="-79"/>
                <a:cs typeface="Heebo Light" pitchFamily="2" charset="-79"/>
              </a:rPr>
              <a:t>REP 735: Retail investor research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DCD7E5"/>
                </a:solidFill>
                <a:effectLst/>
                <a:latin typeface="Heebo Light" pitchFamily="2" charset="-79"/>
                <a:cs typeface="Heebo Light" pitchFamily="2" charset="-79"/>
              </a:rPr>
              <a:t> (web summary).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30863D"/>
                </a:solidFill>
                <a:effectLst/>
                <a:latin typeface="Heebo Light" pitchFamily="2" charset="-79"/>
                <a:cs typeface="Heebo Light" pitchFamily="2" charset="-79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https://www.asic.gov.au/regulatory-resources/find-a-document/reports/rep-735-retail-investor-research/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30863D"/>
                </a:solidFill>
                <a:effectLst/>
                <a:latin typeface="Heebo Light" pitchFamily="2" charset="-79"/>
                <a:cs typeface="Heebo Light" pitchFamily="2" charset="-79"/>
              </a:rPr>
              <a:t>.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30863D"/>
                </a:solidFill>
                <a:effectLst/>
                <a:latin typeface="Heebo Light" pitchFamily="2" charset="-79"/>
                <a:cs typeface="Heebo Light" pitchFamily="2" charset="-79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ASIC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rgbClr val="30863D"/>
              </a:solidFill>
              <a:effectLst/>
              <a:latin typeface="Heebo Light" pitchFamily="2" charset="-79"/>
              <a:cs typeface="Heebo Light" pitchFamily="2" charset="-79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DCD7E5"/>
                </a:solidFill>
                <a:effectLst/>
                <a:latin typeface="Heebo Light" pitchFamily="2" charset="-79"/>
                <a:cs typeface="Heebo Light" pitchFamily="2" charset="-79"/>
              </a:rPr>
              <a:t>Australian Securities and Investments Commission. (2022, Mar.). </a:t>
            </a:r>
            <a:r>
              <a:rPr kumimoji="0" lang="en-US" altLang="en-US" sz="1400" b="0" i="1" u="none" strike="noStrike" cap="none" normalizeH="0" baseline="0">
                <a:ln>
                  <a:noFill/>
                </a:ln>
                <a:solidFill>
                  <a:srgbClr val="DCD7E5"/>
                </a:solidFill>
                <a:effectLst/>
                <a:latin typeface="Heebo Light" pitchFamily="2" charset="-79"/>
                <a:cs typeface="Heebo Light" pitchFamily="2" charset="-79"/>
              </a:rPr>
              <a:t>INFO 269: Discussing financial products and services online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DCD7E5"/>
                </a:solidFill>
                <a:effectLst/>
                <a:latin typeface="Heebo Light" pitchFamily="2" charset="-79"/>
                <a:cs typeface="Heebo Light" pitchFamily="2" charset="-79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30863D"/>
                </a:solidFill>
                <a:effectLst/>
                <a:latin typeface="Heebo Light" pitchFamily="2" charset="-79"/>
                <a:cs typeface="Heebo Light" pitchFamily="2" charset="-79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https://www.asic.gov.au/regulatory-resources/financial-services/giving-financial-product-advice/discussing-financial-products-and-services-online/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30863D"/>
                </a:solidFill>
                <a:effectLst/>
                <a:latin typeface="Heebo Light" pitchFamily="2" charset="-79"/>
                <a:cs typeface="Heebo Light" pitchFamily="2" charset="-79"/>
              </a:rPr>
              <a:t>.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30863D"/>
                </a:solidFill>
                <a:effectLst/>
                <a:latin typeface="Heebo Light" pitchFamily="2" charset="-79"/>
                <a:cs typeface="Heebo Light" pitchFamily="2" charset="-79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ASIC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rgbClr val="30863D"/>
              </a:solidFill>
              <a:effectLst/>
              <a:latin typeface="Heebo Light" pitchFamily="2" charset="-79"/>
              <a:cs typeface="Heebo Light" pitchFamily="2" charset="-79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DCD7E5"/>
                </a:solidFill>
                <a:effectLst/>
                <a:latin typeface="Heebo Light" pitchFamily="2" charset="-79"/>
                <a:cs typeface="Heebo Light" pitchFamily="2" charset="-79"/>
              </a:rPr>
              <a:t>Australian Securities and Investments Commission. (2020, Oct. 23). </a:t>
            </a:r>
            <a:r>
              <a:rPr kumimoji="0" lang="en-US" altLang="en-US" sz="1400" b="0" i="1" u="none" strike="noStrike" cap="none" normalizeH="0" baseline="0">
                <a:ln>
                  <a:noFill/>
                </a:ln>
                <a:solidFill>
                  <a:srgbClr val="DCD7E5"/>
                </a:solidFill>
                <a:effectLst/>
                <a:latin typeface="Heebo Light" pitchFamily="2" charset="-79"/>
                <a:cs typeface="Heebo Light" pitchFamily="2" charset="-79"/>
              </a:rPr>
              <a:t>ASIC product intervention order strengthens CFD protections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DCD7E5"/>
                </a:solidFill>
                <a:effectLst/>
                <a:latin typeface="Heebo Light" pitchFamily="2" charset="-79"/>
                <a:cs typeface="Heebo Light" pitchFamily="2" charset="-79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30863D"/>
                </a:solidFill>
                <a:effectLst/>
                <a:latin typeface="Heebo Light" pitchFamily="2" charset="-79"/>
                <a:cs typeface="Heebo Light" pitchFamily="2" charset="-79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https://www.asic.gov.au/about-asic/news-centre/find-a-media-release/2020-releases/20-254mr-asic-product-intervention-order-strengthens-cfd-protections/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30863D"/>
                </a:solidFill>
                <a:effectLst/>
                <a:latin typeface="Heebo Light" pitchFamily="2" charset="-79"/>
                <a:cs typeface="Heebo Light" pitchFamily="2" charset="-79"/>
              </a:rPr>
              <a:t>.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30863D"/>
                </a:solidFill>
                <a:effectLst/>
                <a:latin typeface="Heebo Light" pitchFamily="2" charset="-79"/>
                <a:cs typeface="Heebo Light" pitchFamily="2" charset="-79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ASIC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rgbClr val="30863D"/>
              </a:solidFill>
              <a:effectLst/>
              <a:latin typeface="Heebo Light" pitchFamily="2" charset="-79"/>
              <a:cs typeface="Heebo Light" pitchFamily="2" charset="-79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DCD7E5"/>
                </a:solidFill>
                <a:effectLst/>
                <a:latin typeface="Heebo Light" pitchFamily="2" charset="-79"/>
                <a:cs typeface="Heebo Light" pitchFamily="2" charset="-79"/>
              </a:rPr>
              <a:t>Australian Securities and Investments Commission. (2020, Nov. 11). </a:t>
            </a:r>
            <a:r>
              <a:rPr kumimoji="0" lang="en-US" altLang="en-US" sz="1400" b="0" i="1" u="none" strike="noStrike" cap="none" normalizeH="0" baseline="0">
                <a:ln>
                  <a:noFill/>
                </a:ln>
                <a:solidFill>
                  <a:srgbClr val="DCD7E5"/>
                </a:solidFill>
                <a:effectLst/>
                <a:latin typeface="Heebo Light" pitchFamily="2" charset="-79"/>
                <a:cs typeface="Heebo Light" pitchFamily="2" charset="-79"/>
              </a:rPr>
              <a:t>Read this before trading CFDs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DCD7E5"/>
                </a:solidFill>
                <a:effectLst/>
                <a:latin typeface="Heebo Light" pitchFamily="2" charset="-79"/>
                <a:cs typeface="Heebo Light" pitchFamily="2" charset="-79"/>
              </a:rPr>
              <a:t> (News item).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30863D"/>
                </a:solidFill>
                <a:effectLst/>
                <a:latin typeface="Heebo Light" pitchFamily="2" charset="-79"/>
                <a:cs typeface="Heebo Light" pitchFamily="2" charset="-79"/>
              </a:rPr>
              <a:t>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30863D"/>
                </a:solidFill>
                <a:effectLst/>
                <a:latin typeface="Heebo Light" pitchFamily="2" charset="-79"/>
                <a:cs typeface="Heebo Light" pitchFamily="2" charset="-79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https://www.asic.gov.au/about-asic/news-centre/news-items/read-this-before-trading-cfds/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30863D"/>
                </a:solidFill>
                <a:effectLst/>
                <a:latin typeface="Heebo Light" pitchFamily="2" charset="-79"/>
                <a:cs typeface="Heebo Light" pitchFamily="2" charset="-79"/>
              </a:rPr>
              <a:t>.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30863D"/>
                </a:solidFill>
                <a:effectLst/>
                <a:latin typeface="Heebo Light" pitchFamily="2" charset="-79"/>
                <a:cs typeface="Heebo Light" pitchFamily="2" charset="-79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ASIC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rgbClr val="30863D"/>
              </a:solidFill>
              <a:effectLst/>
              <a:latin typeface="Heebo Light" pitchFamily="2" charset="-79"/>
              <a:cs typeface="Heebo Light" pitchFamily="2" charset="-79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DCD7E5"/>
                </a:solidFill>
                <a:effectLst/>
                <a:latin typeface="Heebo Light" pitchFamily="2" charset="-79"/>
                <a:cs typeface="Heebo Light" pitchFamily="2" charset="-79"/>
              </a:rPr>
              <a:t>National Anti-Scam Centre, Australian Competition and Consumer Commission. (2025, Mar. 11)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1" u="none" strike="noStrike" cap="none" normalizeH="0" baseline="0">
                <a:ln>
                  <a:noFill/>
                </a:ln>
                <a:solidFill>
                  <a:srgbClr val="DCD7E5"/>
                </a:solidFill>
                <a:effectLst/>
                <a:latin typeface="Heebo Light" pitchFamily="2" charset="-79"/>
                <a:cs typeface="Heebo Light" pitchFamily="2" charset="-79"/>
              </a:rPr>
              <a:t>Targeting scams: Report of the National Anti-Scam Centre on scams data and activity 2024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DCD7E5"/>
                </a:solidFill>
                <a:effectLst/>
                <a:latin typeface="Heebo Light" pitchFamily="2" charset="-79"/>
                <a:cs typeface="Heebo Light" pitchFamily="2" charset="-79"/>
              </a:rPr>
              <a:t> (Annual report).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30863D"/>
                </a:solidFill>
                <a:effectLst/>
                <a:latin typeface="Heebo Light" pitchFamily="2" charset="-79"/>
                <a:cs typeface="Heebo Light" pitchFamily="2" charset="-79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https://www.scamwatch.gov.au/system/files/targeting-scams-report-2024.pdf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30863D"/>
                </a:solidFill>
                <a:effectLst/>
                <a:latin typeface="Heebo Light" pitchFamily="2" charset="-79"/>
                <a:cs typeface="Heebo Light" pitchFamily="2" charset="-79"/>
              </a:rPr>
              <a:t>.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30863D"/>
                </a:solidFill>
                <a:effectLst/>
                <a:latin typeface="Heebo Light" pitchFamily="2" charset="-79"/>
                <a:cs typeface="Heebo Light" pitchFamily="2" charset="-79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scamwatch.gov.au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rgbClr val="30863D"/>
              </a:solidFill>
              <a:effectLst/>
              <a:latin typeface="Heebo Light" pitchFamily="2" charset="-79"/>
              <a:cs typeface="Heebo Light" pitchFamily="2" charset="-79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DCD7E5"/>
                </a:solidFill>
                <a:effectLst/>
                <a:latin typeface="Heebo Light" pitchFamily="2" charset="-79"/>
                <a:cs typeface="Heebo Light" pitchFamily="2" charset="-79"/>
              </a:rPr>
              <a:t>National Anti-Scam Centre, Australian Competition and Consumer Commission. (2024, May). </a:t>
            </a:r>
            <a:r>
              <a:rPr kumimoji="0" lang="en-US" altLang="en-US" sz="1400" b="0" i="1" u="none" strike="noStrike" cap="none" normalizeH="0" baseline="0">
                <a:ln>
                  <a:noFill/>
                </a:ln>
                <a:solidFill>
                  <a:srgbClr val="DCD7E5"/>
                </a:solidFill>
                <a:effectLst/>
                <a:latin typeface="Heebo Light" pitchFamily="2" charset="-79"/>
                <a:cs typeface="Heebo Light" pitchFamily="2" charset="-79"/>
              </a:rPr>
              <a:t>Investment scam fusion cell: Final report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DCD7E5"/>
                </a:solidFill>
                <a:effectLst/>
                <a:latin typeface="Heebo Light" pitchFamily="2" charset="-79"/>
                <a:cs typeface="Heebo Light" pitchFamily="2" charset="-79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30863D"/>
                </a:solidFill>
                <a:effectLst/>
                <a:latin typeface="Heebo Light" pitchFamily="2" charset="-79"/>
                <a:cs typeface="Heebo Light" pitchFamily="2" charset="-79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https://www.accc.gov.au/system/files/NASC-Investment-scam-fusion-cell-final-report-2024.pdf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30863D"/>
                </a:solidFill>
                <a:effectLst/>
                <a:latin typeface="Heebo Light" pitchFamily="2" charset="-79"/>
                <a:cs typeface="Heebo Light" pitchFamily="2" charset="-79"/>
              </a:rPr>
              <a:t>.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30863D"/>
                </a:solidFill>
                <a:effectLst/>
                <a:latin typeface="Heebo Light" pitchFamily="2" charset="-79"/>
                <a:cs typeface="Heebo Light" pitchFamily="2" charset="-79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ACCC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rgbClr val="30863D"/>
              </a:solidFill>
              <a:effectLst/>
              <a:latin typeface="Heebo Light" pitchFamily="2" charset="-79"/>
              <a:cs typeface="Heebo Light" pitchFamily="2" charset="-79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DCD7E5"/>
                </a:solidFill>
                <a:effectLst/>
                <a:latin typeface="Heebo Light" pitchFamily="2" charset="-79"/>
                <a:cs typeface="Heebo Light" pitchFamily="2" charset="-79"/>
              </a:rPr>
              <a:t>International Organization of Securities Commissions. (2023, Mar. 30). </a:t>
            </a:r>
            <a:r>
              <a:rPr kumimoji="0" lang="en-US" altLang="en-US" sz="1400" b="0" i="1" u="none" strike="noStrike" cap="none" normalizeH="0" baseline="0">
                <a:ln>
                  <a:noFill/>
                </a:ln>
                <a:solidFill>
                  <a:srgbClr val="DCD7E5"/>
                </a:solidFill>
                <a:effectLst/>
                <a:latin typeface="Heebo Light" pitchFamily="2" charset="-79"/>
                <a:cs typeface="Heebo Light" pitchFamily="2" charset="-79"/>
              </a:rPr>
              <a:t>Retail Market Conduct Task Force: Final report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DCD7E5"/>
                </a:solidFill>
                <a:effectLst/>
                <a:latin typeface="Heebo Light" pitchFamily="2" charset="-79"/>
                <a:cs typeface="Heebo Light" pitchFamily="2" charset="-79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30863D"/>
                </a:solidFill>
                <a:effectLst/>
                <a:latin typeface="Heebo Light" pitchFamily="2" charset="-79"/>
                <a:cs typeface="Heebo Light" pitchFamily="2" charset="-79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https://www.iosco.org/library/pubdocs/pdf/IOSCOPD730.pdf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30863D"/>
                </a:solidFill>
                <a:effectLst/>
                <a:latin typeface="Heebo Light" pitchFamily="2" charset="-79"/>
                <a:cs typeface="Heebo Light" pitchFamily="2" charset="-79"/>
              </a:rPr>
              <a:t>.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30863D"/>
                </a:solidFill>
                <a:effectLst/>
                <a:latin typeface="Heebo Light" pitchFamily="2" charset="-79"/>
                <a:cs typeface="Heebo Light" pitchFamily="2" charset="-79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iosco.org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rgbClr val="30863D"/>
              </a:solidFill>
              <a:effectLst/>
              <a:latin typeface="Heebo Light" pitchFamily="2" charset="-79"/>
              <a:cs typeface="Heebo Light" pitchFamily="2" charset="-79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DCD7E5"/>
                </a:solidFill>
                <a:effectLst/>
                <a:latin typeface="Heebo Light" pitchFamily="2" charset="-79"/>
                <a:cs typeface="Heebo Light" pitchFamily="2" charset="-79"/>
              </a:rPr>
              <a:t>International Organization of Securities Commissions. (2025). </a:t>
            </a:r>
            <a:r>
              <a:rPr kumimoji="0" lang="en-US" altLang="en-US" sz="1400" b="0" i="1" u="none" strike="noStrike" cap="none" normalizeH="0" baseline="0">
                <a:ln>
                  <a:noFill/>
                </a:ln>
                <a:solidFill>
                  <a:srgbClr val="DCD7E5"/>
                </a:solidFill>
                <a:effectLst/>
                <a:latin typeface="Heebo Light" pitchFamily="2" charset="-79"/>
                <a:cs typeface="Heebo Light" pitchFamily="2" charset="-79"/>
              </a:rPr>
              <a:t>Finfluencers: Final report with policy recommendations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DCD7E5"/>
                </a:solidFill>
                <a:effectLst/>
                <a:latin typeface="Heebo Light" pitchFamily="2" charset="-79"/>
                <a:cs typeface="Heebo Light" pitchFamily="2" charset="-79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30863D"/>
                </a:solidFill>
                <a:effectLst/>
                <a:latin typeface="Heebo Light" pitchFamily="2" charset="-79"/>
                <a:cs typeface="Heebo Light" pitchFamily="2" charset="-79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https://www.iosco.org/library/pubdocs/pdf/IOSCOPD795.pdf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30863D"/>
                </a:solidFill>
                <a:effectLst/>
                <a:latin typeface="Heebo Light" pitchFamily="2" charset="-79"/>
                <a:cs typeface="Heebo Light" pitchFamily="2" charset="-79"/>
              </a:rPr>
              <a:t>.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30863D"/>
                </a:solidFill>
                <a:effectLst/>
                <a:latin typeface="Heebo Light" pitchFamily="2" charset="-79"/>
                <a:cs typeface="Heebo Light" pitchFamily="2" charset="-79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iosco.org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rgbClr val="30863D"/>
              </a:solidFill>
              <a:effectLst/>
              <a:latin typeface="Heebo Light" pitchFamily="2" charset="-79"/>
              <a:cs typeface="Heebo Light" pitchFamily="2" charset="-79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DCD7E5"/>
                </a:solidFill>
                <a:effectLst/>
                <a:latin typeface="Heebo Light" pitchFamily="2" charset="-79"/>
                <a:cs typeface="Heebo Light" pitchFamily="2" charset="-79"/>
              </a:rPr>
              <a:t>Barber, B. M., &amp; Odean, T. (2000). Trading is hazardous to your wealth: The common stock investment performance of individual investors. </a:t>
            </a:r>
            <a:r>
              <a:rPr kumimoji="0" lang="en-US" altLang="en-US" sz="1400" b="0" i="1" u="none" strike="noStrike" cap="none" normalizeH="0" baseline="0">
                <a:ln>
                  <a:noFill/>
                </a:ln>
                <a:solidFill>
                  <a:srgbClr val="DCD7E5"/>
                </a:solidFill>
                <a:effectLst/>
                <a:latin typeface="Heebo Light" pitchFamily="2" charset="-79"/>
                <a:cs typeface="Heebo Light" pitchFamily="2" charset="-79"/>
              </a:rPr>
              <a:t>Journal of Finance, 55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DCD7E5"/>
                </a:solidFill>
                <a:effectLst/>
                <a:latin typeface="Heebo Light" pitchFamily="2" charset="-79"/>
                <a:cs typeface="Heebo Light" pitchFamily="2" charset="-79"/>
              </a:rPr>
              <a:t>(2), 773–806.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30863D"/>
                </a:solidFill>
                <a:effectLst/>
                <a:latin typeface="Heebo Light" pitchFamily="2" charset="-79"/>
                <a:cs typeface="Heebo Light" pitchFamily="2" charset="-79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https://faculty.haas.berkeley.edu/odean/papers%20current%20versions/individual_investor_performance_final.pdf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30863D"/>
                </a:solidFill>
                <a:effectLst/>
                <a:latin typeface="Heebo Light" pitchFamily="2" charset="-79"/>
                <a:cs typeface="Heebo Light" pitchFamily="2" charset="-79"/>
              </a:rPr>
              <a:t>.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30863D"/>
                </a:solidFill>
                <a:effectLst/>
                <a:latin typeface="Heebo Light" pitchFamily="2" charset="-79"/>
                <a:cs typeface="Heebo Light" pitchFamily="2" charset="-79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faculty.haas.berkeley.edu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rgbClr val="30863D"/>
              </a:solidFill>
              <a:effectLst/>
              <a:latin typeface="Heebo Light" pitchFamily="2" charset="-79"/>
              <a:cs typeface="Heebo Light" pitchFamily="2" charset="-79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DCD7E5"/>
                </a:solidFill>
                <a:effectLst/>
                <a:latin typeface="Heebo Light" pitchFamily="2" charset="-79"/>
                <a:cs typeface="Heebo Light" pitchFamily="2" charset="-79"/>
              </a:rPr>
              <a:t>Barber, B. M., Lee, Y.-T., Liu, Y.-J., &amp; Odean, T. (2011). Do day traders rationally learn about their ability? </a:t>
            </a:r>
            <a:r>
              <a:rPr kumimoji="0" lang="en-US" altLang="en-US" sz="1400" b="0" i="1" u="none" strike="noStrike" cap="none" normalizeH="0" baseline="0">
                <a:ln>
                  <a:noFill/>
                </a:ln>
                <a:solidFill>
                  <a:srgbClr val="DCD7E5"/>
                </a:solidFill>
                <a:effectLst/>
                <a:latin typeface="Heebo Light" pitchFamily="2" charset="-79"/>
                <a:cs typeface="Heebo Light" pitchFamily="2" charset="-79"/>
              </a:rPr>
              <a:t>Review of Financial Studies, 24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DCD7E5"/>
                </a:solidFill>
                <a:effectLst/>
                <a:latin typeface="Heebo Light" pitchFamily="2" charset="-79"/>
                <a:cs typeface="Heebo Light" pitchFamily="2" charset="-79"/>
              </a:rPr>
              <a:t>(2), 513–563.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30863D"/>
                </a:solidFill>
                <a:effectLst/>
                <a:latin typeface="Heebo Light" pitchFamily="2" charset="-79"/>
                <a:cs typeface="Heebo Light" pitchFamily="2" charset="-79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https://faculty.haas.berkeley.edu/odean/papers/Day%20Traders/Day%20Trading%20and%20Learning%20110217.pdf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30863D"/>
                </a:solidFill>
                <a:effectLst/>
                <a:latin typeface="Heebo Light" pitchFamily="2" charset="-79"/>
                <a:cs typeface="Heebo Light" pitchFamily="2" charset="-79"/>
              </a:rPr>
              <a:t>.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30863D"/>
                </a:solidFill>
                <a:effectLst/>
                <a:latin typeface="Heebo Light" pitchFamily="2" charset="-79"/>
                <a:cs typeface="Heebo Light" pitchFamily="2" charset="-79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faculty.haas.berkeley.edu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rgbClr val="30863D"/>
              </a:solidFill>
              <a:effectLst/>
              <a:latin typeface="Heebo Light" pitchFamily="2" charset="-79"/>
              <a:cs typeface="Heebo Light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9627828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6">
            <a:extLst>
              <a:ext uri="{FF2B5EF4-FFF2-40B4-BE49-F238E27FC236}">
                <a16:creationId xmlns:a16="http://schemas.microsoft.com/office/drawing/2014/main" id="{ED1694B4-C0CB-AB14-DB5B-6973F7049CD8}"/>
              </a:ext>
            </a:extLst>
          </p:cNvPr>
          <p:cNvSpPr/>
          <p:nvPr/>
        </p:nvSpPr>
        <p:spPr>
          <a:xfrm>
            <a:off x="1253936" y="3241025"/>
            <a:ext cx="3247352" cy="431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100"/>
              </a:lnSpc>
              <a:buNone/>
            </a:pPr>
            <a:r>
              <a:rPr lang="en-US" sz="4000">
                <a:solidFill>
                  <a:srgbClr val="F2F0F4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Questions?</a:t>
            </a:r>
            <a:endParaRPr lang="en-US" sz="4000">
              <a:latin typeface="Montserrat"/>
              <a:ea typeface="Calibri"/>
              <a:cs typeface="Calibri"/>
            </a:endParaRPr>
          </a:p>
        </p:txBody>
      </p:sp>
      <p:sp>
        <p:nvSpPr>
          <p:cNvPr id="3" name="Text 17">
            <a:extLst>
              <a:ext uri="{FF2B5EF4-FFF2-40B4-BE49-F238E27FC236}">
                <a16:creationId xmlns:a16="http://schemas.microsoft.com/office/drawing/2014/main" id="{42B07B60-E85E-B8D7-BA73-ED50912FCC70}"/>
              </a:ext>
            </a:extLst>
          </p:cNvPr>
          <p:cNvSpPr/>
          <p:nvPr/>
        </p:nvSpPr>
        <p:spPr>
          <a:xfrm>
            <a:off x="1253936" y="3979296"/>
            <a:ext cx="3749040" cy="1062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DCD7E5"/>
                </a:solidFill>
                <a:latin typeface="Heebo Light"/>
                <a:cs typeface="Heebo Light"/>
              </a:rPr>
              <a:t>Thank you for your time and consideration.</a:t>
            </a:r>
            <a:endParaRPr lang="en-US" sz="2000">
              <a:solidFill>
                <a:srgbClr val="000000"/>
              </a:solidFill>
              <a:latin typeface="Heebo Light"/>
              <a:cs typeface="Heebo Light"/>
            </a:endParaRPr>
          </a:p>
          <a:p>
            <a:r>
              <a:rPr lang="en-US" sz="2000">
                <a:solidFill>
                  <a:srgbClr val="DCD7E5"/>
                </a:solidFill>
                <a:latin typeface="Heebo Light"/>
                <a:cs typeface="Heebo Light"/>
              </a:rPr>
              <a:t>We are now ready to get grilled </a:t>
            </a:r>
          </a:p>
          <a:p>
            <a:pPr>
              <a:lnSpc>
                <a:spcPts val="2150"/>
              </a:lnSpc>
            </a:pPr>
            <a:endParaRPr lang="en-US" sz="2000">
              <a:solidFill>
                <a:srgbClr val="DCD7E5"/>
              </a:solidFill>
              <a:latin typeface="Heebo Light"/>
              <a:cs typeface="Heebo Light"/>
            </a:endParaRPr>
          </a:p>
        </p:txBody>
      </p:sp>
      <p:sp>
        <p:nvSpPr>
          <p:cNvPr id="4" name="Text 18">
            <a:extLst>
              <a:ext uri="{FF2B5EF4-FFF2-40B4-BE49-F238E27FC236}">
                <a16:creationId xmlns:a16="http://schemas.microsoft.com/office/drawing/2014/main" id="{8221B6D2-F793-4E72-9DA8-7A0126FAC9CA}"/>
              </a:ext>
            </a:extLst>
          </p:cNvPr>
          <p:cNvSpPr/>
          <p:nvPr/>
        </p:nvSpPr>
        <p:spPr>
          <a:xfrm>
            <a:off x="750353" y="5039729"/>
            <a:ext cx="3749040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750"/>
              </a:lnSpc>
              <a:buNone/>
            </a:pPr>
            <a:endParaRPr lang="en-US" sz="1050">
              <a:solidFill>
                <a:srgbClr val="DCD7E5"/>
              </a:solidFill>
              <a:latin typeface="Heebo Light"/>
              <a:cs typeface="Heebo Ligh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53F591-7026-C626-06D1-A070A831D9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451" t="7265" r="9125" b="7834"/>
          <a:stretch>
            <a:fillRect/>
          </a:stretch>
        </p:blipFill>
        <p:spPr>
          <a:xfrm>
            <a:off x="6834553" y="16896"/>
            <a:ext cx="7795847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8602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1166</Words>
  <Application>Microsoft Office PowerPoint</Application>
  <PresentationFormat>Custom</PresentationFormat>
  <Paragraphs>159</Paragraphs>
  <Slides>13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Calibri</vt:lpstr>
      <vt:lpstr>Arial</vt:lpstr>
      <vt:lpstr>Heebo Light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Amruth Raj</dc:creator>
  <cp:lastModifiedBy>Amruth Raj Manchikanti</cp:lastModifiedBy>
  <cp:revision>56</cp:revision>
  <dcterms:created xsi:type="dcterms:W3CDTF">2025-10-22T13:19:53Z</dcterms:created>
  <dcterms:modified xsi:type="dcterms:W3CDTF">2025-10-28T08:49:24Z</dcterms:modified>
</cp:coreProperties>
</file>